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828800"/>
            <a:ext cx="164592" cy="32004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icrosoft YaHei"/>
              </a:rPr>
              <a:t>安全告警调查 · 原子能力实施计划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2608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D1D5DB"/>
                </a:solidFill>
                <a:latin typeface="Microsoft YaHei"/>
              </a:rPr>
              <a:t>Atomic Investigation Capabilities — P0 技术评审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8404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3B82F6"/>
                </a:solidFill>
                <a:latin typeface="Microsoft YaHei"/>
              </a:rPr>
              <a:t>日期 · 2026-05-24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D1D5DB"/>
                </a:solidFill>
                <a:latin typeface="Microsoft YaHei"/>
              </a:rPr>
              <a:t>Secmind / secmind-investigator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D1D5DB"/>
                </a:solidFill>
                <a:latin typeface="Microsoft YaHei"/>
              </a:rPr>
              <a:t>1 / 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</a:rPr>
              <a:t>Secmind · Atomic Investigation 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73152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D1D5DB"/>
                </a:solidFill>
                <a:latin typeface="Microsoft YaHei"/>
              </a:rPr>
              <a:t>2026-05-24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2940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4B5563"/>
                </a:solidFill>
                <a:latin typeface="Microsoft YaHei"/>
              </a:rPr>
              <a:t>secmind-investigator · P0 Technical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629400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4B5563"/>
                </a:solidFill>
                <a:latin typeface="Microsoft YaHei"/>
              </a:rPr>
              <a:t>2 /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Microsoft YaHei"/>
              </a:rPr>
              <a:t>议程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234440"/>
            <a:ext cx="822960" cy="54864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325880"/>
            <a:ext cx="11247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Microsoft YaHei"/>
              </a:rPr>
              <a:t>本次评审的 8 个章节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103120"/>
            <a:ext cx="2697480" cy="19202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103120"/>
            <a:ext cx="91440" cy="192024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331720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3B82F6"/>
                </a:solidFill>
                <a:latin typeface="Microsoft YaHe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017520"/>
            <a:ext cx="23317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F2A44"/>
                </a:solidFill>
                <a:latin typeface="Microsoft YaHei"/>
              </a:rPr>
              <a:t>背景与目标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91840" y="2103120"/>
            <a:ext cx="2697480" cy="19202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91840" y="2103120"/>
            <a:ext cx="91440" cy="192024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66160" y="2331720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3B82F6"/>
                </a:solidFill>
                <a:latin typeface="Microsoft YaHe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3017520"/>
            <a:ext cx="23317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F2A44"/>
                </a:solidFill>
                <a:latin typeface="Microsoft YaHei"/>
              </a:rPr>
              <a:t>三层架构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2103120"/>
            <a:ext cx="2697480" cy="19202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26480" y="2103120"/>
            <a:ext cx="91440" cy="192024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2331720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3B82F6"/>
                </a:solidFill>
                <a:latin typeface="Microsoft YaHe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017520"/>
            <a:ext cx="23317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F2A44"/>
                </a:solidFill>
                <a:latin typeface="Microsoft YaHei"/>
              </a:rPr>
              <a:t>统一 Schema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61120" y="2103120"/>
            <a:ext cx="2697480" cy="19202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61120" y="2103120"/>
            <a:ext cx="91440" cy="192024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35440" y="2331720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3B82F6"/>
                </a:solidFill>
                <a:latin typeface="Microsoft YaHei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3017520"/>
            <a:ext cx="23317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F2A44"/>
                </a:solidFill>
                <a:latin typeface="Microsoft YaHei"/>
              </a:rPr>
              <a:t>数据源抽象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297680"/>
            <a:ext cx="2697480" cy="19202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4297680"/>
            <a:ext cx="91440" cy="192024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4526280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3B82F6"/>
                </a:solidFill>
                <a:latin typeface="Microsoft YaHei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212080"/>
            <a:ext cx="23317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F2A44"/>
                </a:solidFill>
                <a:latin typeface="Microsoft YaHei"/>
              </a:rPr>
              <a:t>原子能力清单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91840" y="4297680"/>
            <a:ext cx="2697480" cy="19202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291840" y="4297680"/>
            <a:ext cx="91440" cy="192024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66160" y="4526280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3B82F6"/>
                </a:solidFill>
                <a:latin typeface="Microsoft YaHei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0" y="5212080"/>
            <a:ext cx="23317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F2A44"/>
                </a:solidFill>
                <a:latin typeface="Microsoft YaHei"/>
              </a:rPr>
              <a:t>错误与降级语义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26480" y="4297680"/>
            <a:ext cx="2697480" cy="19202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26480" y="4297680"/>
            <a:ext cx="91440" cy="192024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0" y="4526280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3B82F6"/>
                </a:solidFill>
                <a:latin typeface="Microsoft YaHei"/>
              </a:rPr>
              <a:t>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5212080"/>
            <a:ext cx="23317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F2A44"/>
                </a:solidFill>
                <a:latin typeface="Microsoft YaHei"/>
              </a:rPr>
              <a:t>端到端钓鱼场景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961120" y="4297680"/>
            <a:ext cx="2697480" cy="19202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961120" y="4297680"/>
            <a:ext cx="91440" cy="192024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235440" y="4526280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3B82F6"/>
                </a:solidFill>
                <a:latin typeface="Microsoft YaHei"/>
              </a:rPr>
              <a:t>08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35440" y="5212080"/>
            <a:ext cx="23317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F2A44"/>
                </a:solidFill>
                <a:latin typeface="Microsoft YaHei"/>
              </a:rPr>
              <a:t>P0 验收 + 路线图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</a:rPr>
              <a:t>Secmind · Atomic Investigation 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73152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D1D5DB"/>
                </a:solidFill>
                <a:latin typeface="Microsoft YaHei"/>
              </a:rPr>
              <a:t>2026-05-24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2940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4B5563"/>
                </a:solidFill>
                <a:latin typeface="Microsoft YaHei"/>
              </a:rPr>
              <a:t>secmind-investigator · P0 Technical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629400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4B5563"/>
                </a:solidFill>
                <a:latin typeface="Microsoft YaHei"/>
              </a:rPr>
              <a:t>3 /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Microsoft YaHei"/>
              </a:rPr>
              <a:t>背景与目标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234440"/>
            <a:ext cx="822960" cy="54864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325880"/>
            <a:ext cx="11247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Microsoft YaHei"/>
              </a:rPr>
              <a:t>为什么需要把调查能力做成可被 LLM Agent 调用的积木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920240"/>
            <a:ext cx="5486400" cy="18288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920240"/>
            <a:ext cx="91440" cy="182880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011680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EF4444"/>
                </a:solidFill>
                <a:latin typeface="Microsoft YaHei"/>
              </a:rPr>
              <a:t>痛点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468880"/>
            <a:ext cx="51206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3B82F6"/>
                </a:solidFill>
                <a:latin typeface="Microsoft YaHei"/>
              </a:rPr>
              <a:t>■ </a:t>
            </a:r>
            <a:r>
              <a:rPr sz="1400">
                <a:solidFill>
                  <a:srgbClr val="111827"/>
                </a:solidFill>
                <a:latin typeface="Microsoft YaHei"/>
              </a:rPr>
              <a:t>告警调查严重依赖人工经验,新人上手周期长</a:t>
            </a:r>
          </a:p>
          <a:p>
            <a:pPr algn="l">
              <a:lnSpc>
                <a:spcPct val="130000"/>
              </a:lnSpc>
            </a:pPr>
            <a:r>
              <a:rPr sz="1400" b="1">
                <a:solidFill>
                  <a:srgbClr val="3B82F6"/>
                </a:solidFill>
                <a:latin typeface="Microsoft YaHei"/>
              </a:rPr>
              <a:t>■ </a:t>
            </a:r>
            <a:r>
              <a:rPr sz="1400">
                <a:solidFill>
                  <a:srgbClr val="111827"/>
                </a:solidFill>
                <a:latin typeface="Microsoft YaHei"/>
              </a:rPr>
              <a:t>跨 IDP / EDR / SIEM / 邮件 等系统反复拼接</a:t>
            </a:r>
          </a:p>
          <a:p>
            <a:pPr algn="l">
              <a:lnSpc>
                <a:spcPct val="130000"/>
              </a:lnSpc>
            </a:pPr>
            <a:r>
              <a:rPr sz="1400" b="1">
                <a:solidFill>
                  <a:srgbClr val="3B82F6"/>
                </a:solidFill>
                <a:latin typeface="Microsoft YaHei"/>
              </a:rPr>
              <a:t>■ </a:t>
            </a:r>
            <a:r>
              <a:rPr sz="1400">
                <a:solidFill>
                  <a:srgbClr val="111827"/>
                </a:solidFill>
                <a:latin typeface="Microsoft YaHei"/>
              </a:rPr>
              <a:t>调查流程难以复用、难以审计、难以度量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920240"/>
            <a:ext cx="5486400" cy="18288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1920240"/>
            <a:ext cx="91440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2011680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0B981"/>
                </a:solidFill>
                <a:latin typeface="Microsoft YaHei"/>
              </a:rPr>
              <a:t>目标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468880"/>
            <a:ext cx="51206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3B82F6"/>
                </a:solidFill>
                <a:latin typeface="Microsoft YaHei"/>
              </a:rPr>
              <a:t>■ </a:t>
            </a:r>
            <a:r>
              <a:rPr sz="1400">
                <a:solidFill>
                  <a:srgbClr val="111827"/>
                </a:solidFill>
                <a:latin typeface="Microsoft YaHei"/>
              </a:rPr>
              <a:t>把调查动作拆解成可独立调用的原子能力</a:t>
            </a:r>
          </a:p>
          <a:p>
            <a:pPr algn="l">
              <a:lnSpc>
                <a:spcPct val="130000"/>
              </a:lnSpc>
            </a:pPr>
            <a:r>
              <a:rPr sz="1400" b="1">
                <a:solidFill>
                  <a:srgbClr val="3B82F6"/>
                </a:solidFill>
                <a:latin typeface="Microsoft YaHei"/>
              </a:rPr>
              <a:t>■ </a:t>
            </a:r>
            <a:r>
              <a:rPr sz="1400">
                <a:solidFill>
                  <a:srgbClr val="111827"/>
                </a:solidFill>
                <a:latin typeface="Microsoft YaHei"/>
              </a:rPr>
              <a:t>LLM Agent / 上层编排器自由组合这些积木</a:t>
            </a:r>
          </a:p>
          <a:p>
            <a:pPr algn="l">
              <a:lnSpc>
                <a:spcPct val="130000"/>
              </a:lnSpc>
            </a:pPr>
            <a:r>
              <a:rPr sz="1400" b="1">
                <a:solidFill>
                  <a:srgbClr val="3B82F6"/>
                </a:solidFill>
                <a:latin typeface="Microsoft YaHei"/>
              </a:rPr>
              <a:t>■ </a:t>
            </a:r>
            <a:r>
              <a:rPr sz="1400">
                <a:solidFill>
                  <a:srgbClr val="111827"/>
                </a:solidFill>
                <a:latin typeface="Microsoft YaHei"/>
              </a:rPr>
              <a:t>Schema 统一、证据可回溯、降级可观测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023360"/>
            <a:ext cx="11292840" cy="219456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16052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F2A44"/>
                </a:solidFill>
                <a:latin typeface="Microsoft YaHei"/>
              </a:rPr>
              <a:t>产物与节奏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617720"/>
            <a:ext cx="10789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Microsoft YaHei"/>
              </a:rPr>
              <a:t>Python 库:secmind-investigator(Python 3.11+ / Pydantic v2 / asyncio)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5212080"/>
            <a:ext cx="35661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800" y="5212080"/>
            <a:ext cx="73152" cy="9144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0392" y="5285232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3B82F6"/>
                </a:solidFill>
                <a:latin typeface="Microsoft YaHei"/>
              </a:rPr>
              <a:t>P0 · 基础底座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" y="5650992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B5563"/>
                </a:solidFill>
                <a:latin typeface="Microsoft YaHei"/>
              </a:rPr>
              <a:t>Schema + 9 类数据源 + 25 原子能力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26280" y="5212080"/>
            <a:ext cx="35661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26280" y="5212080"/>
            <a:ext cx="73152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90872" y="5285232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Microsoft YaHei"/>
              </a:rPr>
              <a:t>P1 · 场景扩展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90872" y="5650992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B5563"/>
                </a:solidFill>
                <a:latin typeface="Microsoft YaHei"/>
              </a:rPr>
              <a:t>+6 数据源 + 云/横移/外泄/特权能力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366760" y="5212080"/>
            <a:ext cx="356616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366760" y="5212080"/>
            <a:ext cx="73152" cy="9144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31352" y="5285232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2A44"/>
                </a:solidFill>
                <a:latin typeface="Microsoft YaHei"/>
              </a:rPr>
              <a:t>P2 · 深度专题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31352" y="5650992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B5563"/>
                </a:solidFill>
                <a:latin typeface="Microsoft YaHei"/>
              </a:rPr>
              <a:t>沙箱回放 / 漏洞链 / 域名全景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</a:rPr>
              <a:t>Secmind · Atomic Investigation 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73152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D1D5DB"/>
                </a:solidFill>
                <a:latin typeface="Microsoft YaHei"/>
              </a:rPr>
              <a:t>2026-05-24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2940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4B5563"/>
                </a:solidFill>
                <a:latin typeface="Microsoft YaHei"/>
              </a:rPr>
              <a:t>secmind-investigator · P0 Technical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629400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4B5563"/>
                </a:solidFill>
                <a:latin typeface="Microsoft YaHei"/>
              </a:rPr>
              <a:t>4 /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Microsoft YaHei"/>
              </a:rPr>
              <a:t>三层架构总览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234440"/>
            <a:ext cx="822960" cy="54864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325880"/>
            <a:ext cx="11247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Microsoft YaHei"/>
              </a:rPr>
              <a:t>Core / Adapter / Capability — 单向依赖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828800"/>
            <a:ext cx="11292840" cy="128016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828800"/>
            <a:ext cx="164592" cy="128016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96596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3B82F6"/>
                </a:solidFill>
                <a:latin typeface="Microsoft YaHei"/>
              </a:rPr>
              <a:t>Capability 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4688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Microsoft YaHei"/>
              </a:rPr>
              <a:t>每个能力一个独立类,单一职责,不互相调用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78892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B5563"/>
                </a:solidFill>
                <a:latin typeface="Menlo"/>
              </a:rPr>
              <a:t>investigate.entity.user.profile / investigate.verdict.tp_fp ...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246120"/>
            <a:ext cx="11292840" cy="128016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246120"/>
            <a:ext cx="164592" cy="12801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38328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0B981"/>
                </a:solidFill>
                <a:latin typeface="Microsoft YaHei"/>
              </a:rPr>
              <a:t>DataSource Adapter 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8862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Microsoft YaHei"/>
              </a:rPr>
              <a:t>每类数据源(DS-XXX)一份接口,可挂多家厂商实现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20624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B5563"/>
                </a:solidFill>
                <a:latin typeface="Menlo"/>
              </a:rPr>
              <a:t>DS-IDP / DS-EDR / DS-SIEM / DS-EMAIL / DS-TI ...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663440"/>
            <a:ext cx="11292840" cy="128016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4663440"/>
            <a:ext cx="164592" cy="12801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80060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F2A44"/>
                </a:solidFill>
                <a:latin typeface="Microsoft YaHei"/>
              </a:rPr>
              <a:t>Core 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303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Microsoft YaHei"/>
              </a:rPr>
              <a:t>Schema / AtomicCapability ABC / Registry / 错误与降级 / Observability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62356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B5563"/>
                </a:solidFill>
                <a:latin typeface="Menlo"/>
              </a:rPr>
              <a:t>CapabilityResult · EvidenceRef · PIIMarker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943600"/>
            <a:ext cx="11292840" cy="5029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5943600"/>
            <a:ext cx="112928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本仓库提供积木,编排由 LLM Agent / 上层规则引擎负责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</a:rPr>
              <a:t>Secmind · Atomic Investigation 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73152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D1D5DB"/>
                </a:solidFill>
                <a:latin typeface="Microsoft YaHei"/>
              </a:rPr>
              <a:t>2026-05-24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2940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4B5563"/>
                </a:solidFill>
                <a:latin typeface="Microsoft YaHei"/>
              </a:rPr>
              <a:t>secmind-investigator · P0 Technical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629400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4B5563"/>
                </a:solidFill>
                <a:latin typeface="Microsoft YaHei"/>
              </a:rPr>
              <a:t>5 /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Microsoft YaHei"/>
              </a:rPr>
              <a:t>技术栈与工程基线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234440"/>
            <a:ext cx="822960" cy="54864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325880"/>
            <a:ext cx="11247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Microsoft YaHei"/>
              </a:rPr>
              <a:t>可重复、可观测、可门禁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288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2A44"/>
                </a:solidFill>
                <a:latin typeface="Microsoft YaHei"/>
              </a:rPr>
              <a:t>运行时与依赖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240280"/>
            <a:ext cx="56692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3B82F6"/>
                </a:solidFill>
                <a:latin typeface="Microsoft YaHei"/>
              </a:rPr>
              <a:t>■ </a:t>
            </a:r>
            <a:r>
              <a:rPr sz="1400">
                <a:solidFill>
                  <a:srgbClr val="111827"/>
                </a:solidFill>
                <a:latin typeface="Microsoft YaHei"/>
              </a:rPr>
              <a:t>Python 3.11+ / Pydantic v2 / asyncio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3B82F6"/>
                </a:solidFill>
                <a:latin typeface="Microsoft YaHei"/>
              </a:rPr>
              <a:t>■ </a:t>
            </a:r>
            <a:r>
              <a:rPr sz="1400">
                <a:solidFill>
                  <a:srgbClr val="111827"/>
                </a:solidFill>
                <a:latin typeface="Microsoft YaHei"/>
              </a:rPr>
              <a:t>pytest + pytest-asyncio + pytest-cov + hypothesis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3B82F6"/>
                </a:solidFill>
                <a:latin typeface="Microsoft YaHei"/>
              </a:rPr>
              <a:t>■ </a:t>
            </a:r>
            <a:r>
              <a:rPr sz="1400">
                <a:solidFill>
                  <a:srgbClr val="111827"/>
                </a:solidFill>
                <a:latin typeface="Microsoft YaHei"/>
              </a:rPr>
              <a:t>structlog + OpenTelemetry(traces / metrics)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3B82F6"/>
                </a:solidFill>
                <a:latin typeface="Microsoft YaHei"/>
              </a:rPr>
              <a:t>■ </a:t>
            </a:r>
            <a:r>
              <a:rPr sz="1400">
                <a:solidFill>
                  <a:srgbClr val="111827"/>
                </a:solidFill>
                <a:latin typeface="Microsoft YaHei"/>
              </a:rPr>
              <a:t>ruff(lint+format) + mypy --strict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3B82F6"/>
                </a:solidFill>
                <a:latin typeface="Microsoft YaHei"/>
              </a:rPr>
              <a:t>■ </a:t>
            </a:r>
            <a:r>
              <a:rPr sz="1400">
                <a:solidFill>
                  <a:srgbClr val="111827"/>
                </a:solidFill>
                <a:latin typeface="Microsoft YaHei"/>
              </a:rPr>
              <a:t>uv:依赖解析 / venv / 锁文件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F2A44"/>
                </a:solidFill>
                <a:latin typeface="Microsoft YaHei"/>
              </a:rPr>
              <a:t>项目骨架与门禁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309360" y="2286000"/>
          <a:ext cx="54864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657600"/>
              </a:tblGrid>
              <a:tr h="533400"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文件 / 配置</a:t>
                      </a:r>
                    </a:p>
                  </a:txBody>
                  <a:tcPr marL="73152" marR="73152" marT="36576" marB="36576">
                    <a:solidFill>
                      <a:srgbClr val="1F2A44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作用</a:t>
                      </a:r>
                    </a:p>
                  </a:txBody>
                  <a:tcPr marL="73152" marR="73152" marT="36576" marB="36576">
                    <a:solidFill>
                      <a:srgbClr val="1F2A44"/>
                    </a:solidFill>
                  </a:tcPr>
                </a:tc>
              </a:tr>
              <a:tr h="533400"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pyproject.toml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依赖、构建、ruff / mypy / pytest 配置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Makefile</a:t>
                      </a:r>
                    </a:p>
                  </a:txBody>
                  <a:tcPr marL="73152" marR="73152" marT="36576" marB="36576">
                    <a:solidFill>
                      <a:srgbClr val="F3F4F6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install / lint / test / typecheck / coverage</a:t>
                      </a:r>
                    </a:p>
                  </a:txBody>
                  <a:tcPr marL="73152" marR="73152" marT="36576" marB="36576">
                    <a:solidFill>
                      <a:srgbClr val="F3F4F6"/>
                    </a:solidFill>
                  </a:tcPr>
                </a:tc>
              </a:tr>
              <a:tr h="533400"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conftest.py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公共 fixtures(InMemoryDataSource 等)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.github/workflows/</a:t>
                      </a:r>
                    </a:p>
                  </a:txBody>
                  <a:tcPr marL="73152" marR="73152" marT="36576" marB="36576">
                    <a:solidFill>
                      <a:srgbClr val="F3F4F6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CI:lint + typecheck + test</a:t>
                      </a:r>
                    </a:p>
                  </a:txBody>
                  <a:tcPr marL="73152" marR="73152" marT="36576" marB="36576">
                    <a:solidFill>
                      <a:srgbClr val="F3F4F6"/>
                    </a:solidFill>
                  </a:tcPr>
                </a:tc>
              </a:tr>
              <a:tr h="533400"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coverage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pytest --cov-fail-under=85(硬门禁)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457200" y="5943600"/>
            <a:ext cx="11292840" cy="5029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5943600"/>
            <a:ext cx="112928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make lint &amp;&amp; make typecheck &amp;&amp; make test —— PR 合入硬门禁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</a:rPr>
              <a:t>Secmind · Atomic Investigation 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73152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D1D5DB"/>
                </a:solidFill>
                <a:latin typeface="Microsoft YaHei"/>
              </a:rPr>
              <a:t>2026-05-24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2940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4B5563"/>
                </a:solidFill>
                <a:latin typeface="Microsoft YaHei"/>
              </a:rPr>
              <a:t>secmind-investigator · P0 Technical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629400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4B5563"/>
                </a:solidFill>
                <a:latin typeface="Microsoft YaHei"/>
              </a:rPr>
              <a:t>6 /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Microsoft YaHei"/>
              </a:rPr>
              <a:t>统一 Schema:CapabilityResult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234440"/>
            <a:ext cx="822960" cy="54864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325880"/>
            <a:ext cx="11247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Microsoft YaHei"/>
              </a:rPr>
              <a:t>所有原子能力共享同一信封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1828800"/>
          <a:ext cx="1129284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6903720"/>
              </a:tblGrid>
              <a:tr h="447040"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字段</a:t>
                      </a:r>
                    </a:p>
                  </a:txBody>
                  <a:tcPr marL="73152" marR="73152" marT="36576" marB="36576">
                    <a:solidFill>
                      <a:srgbClr val="1F2A44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类型</a:t>
                      </a:r>
                    </a:p>
                  </a:txBody>
                  <a:tcPr marL="73152" marR="73152" marT="36576" marB="36576">
                    <a:solidFill>
                      <a:srgbClr val="1F2A44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说明</a:t>
                      </a:r>
                    </a:p>
                  </a:txBody>
                  <a:tcPr marL="73152" marR="73152" marT="36576" marB="36576">
                    <a:solidFill>
                      <a:srgbClr val="1F2A44"/>
                    </a:solidFill>
                  </a:tcPr>
                </a:tc>
              </a:tr>
              <a:tr h="447040"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payload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BaseModel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能力强类型输出(每个能力自定义)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confidence</a:t>
                      </a:r>
                    </a:p>
                  </a:txBody>
                  <a:tcPr marL="73152" marR="73152" marT="36576" marB="36576">
                    <a:solidFill>
                      <a:srgbClr val="F3F4F6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float [0,1]</a:t>
                      </a:r>
                    </a:p>
                  </a:txBody>
                  <a:tcPr marL="73152" marR="73152" marT="36576" marB="36576">
                    <a:solidFill>
                      <a:srgbClr val="F3F4F6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置信度,LLM 据此判断是否补查</a:t>
                      </a:r>
                    </a:p>
                  </a:txBody>
                  <a:tcPr marL="73152" marR="73152" marT="36576" marB="36576">
                    <a:solidFill>
                      <a:srgbClr val="F3F4F6"/>
                    </a:solidFill>
                  </a:tcPr>
                </a:tc>
              </a:tr>
              <a:tr h="447040"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partial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bool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是否为降级 / 部分结果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partial_reasons</a:t>
                      </a:r>
                    </a:p>
                  </a:txBody>
                  <a:tcPr marL="73152" marR="73152" marT="36576" marB="36576">
                    <a:solidFill>
                      <a:srgbClr val="F3F4F6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list[str]</a:t>
                      </a:r>
                    </a:p>
                  </a:txBody>
                  <a:tcPr marL="73152" marR="73152" marT="36576" marB="36576">
                    <a:solidFill>
                      <a:srgbClr val="F3F4F6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降级原因(可枚举),便于 LLM 决策</a:t>
                      </a:r>
                    </a:p>
                  </a:txBody>
                  <a:tcPr marL="73152" marR="73152" marT="36576" marB="36576">
                    <a:solidFill>
                      <a:srgbClr val="F3F4F6"/>
                    </a:solidFill>
                  </a:tcPr>
                </a:tc>
              </a:tr>
              <a:tr h="447040"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evidence_refs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list[EvidenceRef]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证据回溯锚点(source/query/record_id)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pii_fields</a:t>
                      </a:r>
                    </a:p>
                  </a:txBody>
                  <a:tcPr marL="73152" marR="73152" marT="36576" marB="36576">
                    <a:solidFill>
                      <a:srgbClr val="F3F4F6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list[PIIMarker]</a:t>
                      </a:r>
                    </a:p>
                  </a:txBody>
                  <a:tcPr marL="73152" marR="73152" marT="36576" marB="36576">
                    <a:solidFill>
                      <a:srgbClr val="F3F4F6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标注敏感字段,下游 Redactor 按角色裁剪</a:t>
                      </a:r>
                    </a:p>
                  </a:txBody>
                  <a:tcPr marL="73152" marR="73152" marT="36576" marB="36576">
                    <a:solidFill>
                      <a:srgbClr val="F3F4F6"/>
                    </a:solidFill>
                  </a:tcPr>
                </a:tc>
              </a:tr>
              <a:tr h="447040"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duration_ms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int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执行耗时,接入 SLO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47040"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cost_units</a:t>
                      </a:r>
                    </a:p>
                  </a:txBody>
                  <a:tcPr marL="73152" marR="73152" marT="36576" marB="36576">
                    <a:solidFill>
                      <a:srgbClr val="F3F4F6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float | None</a:t>
                      </a:r>
                    </a:p>
                  </a:txBody>
                  <a:tcPr marL="73152" marR="73152" marT="36576" marB="36576">
                    <a:solidFill>
                      <a:srgbClr val="F3F4F6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调用代价(API 计费 / 配额)</a:t>
                      </a:r>
                    </a:p>
                  </a:txBody>
                  <a:tcPr marL="73152" marR="73152" marT="36576" marB="36576"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457200" y="5989320"/>
            <a:ext cx="112928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5989320"/>
            <a:ext cx="112928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统一信封 → LLM 无需为每个能力学新结构,只学一次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</a:rPr>
              <a:t>Secmind · Atomic Investigation 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73152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D1D5DB"/>
                </a:solidFill>
                <a:latin typeface="Microsoft YaHei"/>
              </a:rPr>
              <a:t>2026-05-24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2940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4B5563"/>
                </a:solidFill>
                <a:latin typeface="Microsoft YaHei"/>
              </a:rPr>
              <a:t>secmind-investigator · P0 Technical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629400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4B5563"/>
                </a:solidFill>
                <a:latin typeface="Microsoft YaHei"/>
              </a:rPr>
              <a:t>7 /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Microsoft YaHei"/>
              </a:rPr>
              <a:t>Schema 配套类型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234440"/>
            <a:ext cx="822960" cy="54864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325880"/>
            <a:ext cx="11247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Microsoft YaHei"/>
              </a:rPr>
              <a:t>EvidenceRef / PIIMarker — 可审计 + 可裁剪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288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3B82F6"/>
                </a:solidFill>
                <a:latin typeface="Microsoft YaHei"/>
              </a:rPr>
              <a:t>EvidenceRef · 可审计回溯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240280"/>
            <a:ext cx="54864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1">
                <a:solidFill>
                  <a:srgbClr val="3B82F6"/>
                </a:solidFill>
                <a:latin typeface="Microsoft YaHei"/>
              </a:rPr>
              <a:t>■ </a:t>
            </a:r>
            <a:r>
              <a:rPr sz="1300">
                <a:solidFill>
                  <a:srgbClr val="111827"/>
                </a:solidFill>
                <a:latin typeface="Microsoft YaHei"/>
              </a:rPr>
              <a:t>source:数据源 id(如 ds.idp.entra)</a:t>
            </a:r>
          </a:p>
          <a:p>
            <a:pPr algn="l">
              <a:lnSpc>
                <a:spcPct val="140000"/>
              </a:lnSpc>
            </a:pPr>
            <a:r>
              <a:rPr sz="1300" b="1">
                <a:solidFill>
                  <a:srgbClr val="3B82F6"/>
                </a:solidFill>
                <a:latin typeface="Microsoft YaHei"/>
              </a:rPr>
              <a:t>■ </a:t>
            </a:r>
            <a:r>
              <a:rPr sz="1300">
                <a:solidFill>
                  <a:srgbClr val="111827"/>
                </a:solidFill>
                <a:latin typeface="Microsoft YaHei"/>
              </a:rPr>
              <a:t>query:执行的查询语句 / API 名</a:t>
            </a:r>
          </a:p>
          <a:p>
            <a:pPr algn="l">
              <a:lnSpc>
                <a:spcPct val="140000"/>
              </a:lnSpc>
            </a:pPr>
            <a:r>
              <a:rPr sz="1300" b="1">
                <a:solidFill>
                  <a:srgbClr val="3B82F6"/>
                </a:solidFill>
                <a:latin typeface="Microsoft YaHei"/>
              </a:rPr>
              <a:t>■ </a:t>
            </a:r>
            <a:r>
              <a:rPr sz="1300">
                <a:solidFill>
                  <a:srgbClr val="111827"/>
                </a:solidFill>
                <a:latin typeface="Microsoft YaHei"/>
              </a:rPr>
              <a:t>record_id:返回记录的主键</a:t>
            </a:r>
          </a:p>
          <a:p>
            <a:pPr algn="l">
              <a:lnSpc>
                <a:spcPct val="140000"/>
              </a:lnSpc>
            </a:pPr>
            <a:r>
              <a:rPr sz="1300" b="1">
                <a:solidFill>
                  <a:srgbClr val="3B82F6"/>
                </a:solidFill>
                <a:latin typeface="Microsoft YaHei"/>
              </a:rPr>
              <a:t>■ </a:t>
            </a:r>
            <a:r>
              <a:rPr sz="1300">
                <a:solidFill>
                  <a:srgbClr val="111827"/>
                </a:solidFill>
                <a:latin typeface="Microsoft YaHei"/>
              </a:rPr>
              <a:t>captured_at:抓取时间戳(UTC)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8404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EF4444"/>
                </a:solidFill>
                <a:latin typeface="Microsoft YaHei"/>
              </a:rPr>
              <a:t>PIIMarker · 敏感字段裁剪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251960"/>
            <a:ext cx="54864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1">
                <a:solidFill>
                  <a:srgbClr val="3B82F6"/>
                </a:solidFill>
                <a:latin typeface="Microsoft YaHei"/>
              </a:rPr>
              <a:t>■ </a:t>
            </a:r>
            <a:r>
              <a:rPr sz="1300">
                <a:solidFill>
                  <a:srgbClr val="111827"/>
                </a:solidFill>
                <a:latin typeface="Microsoft YaHei"/>
              </a:rPr>
              <a:t>json_path:目标字段的 JSON Path</a:t>
            </a:r>
          </a:p>
          <a:p>
            <a:pPr algn="l">
              <a:lnSpc>
                <a:spcPct val="140000"/>
              </a:lnSpc>
            </a:pPr>
            <a:r>
              <a:rPr sz="1300" b="1">
                <a:solidFill>
                  <a:srgbClr val="3B82F6"/>
                </a:solidFill>
                <a:latin typeface="Microsoft YaHei"/>
              </a:rPr>
              <a:t>■ </a:t>
            </a:r>
            <a:r>
              <a:rPr sz="1300">
                <a:solidFill>
                  <a:srgbClr val="111827"/>
                </a:solidFill>
                <a:latin typeface="Microsoft YaHei"/>
              </a:rPr>
              <a:t>classification:pii / secret / internal / regulated</a:t>
            </a:r>
          </a:p>
          <a:p>
            <a:pPr algn="l">
              <a:lnSpc>
                <a:spcPct val="140000"/>
              </a:lnSpc>
            </a:pPr>
            <a:r>
              <a:rPr sz="1300" b="1">
                <a:solidFill>
                  <a:srgbClr val="3B82F6"/>
                </a:solidFill>
                <a:latin typeface="Microsoft YaHei"/>
              </a:rPr>
              <a:t>■ </a:t>
            </a:r>
            <a:r>
              <a:rPr sz="1300">
                <a:solidFill>
                  <a:srgbClr val="111827"/>
                </a:solidFill>
                <a:latin typeface="Microsoft YaHei"/>
              </a:rPr>
              <a:t>下游 Redactor 按访问角色统一脱敏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1828800"/>
            <a:ext cx="5486400" cy="42062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920240"/>
            <a:ext cx="5212080" cy="4023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>
                <a:solidFill>
                  <a:srgbClr val="E5E7EB"/>
                </a:solidFill>
                <a:latin typeface="Menlo"/>
              </a:rPr>
              <a:t>class EvidenceRef(BaseModel):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E5E7EB"/>
                </a:solidFill>
                <a:latin typeface="Menlo"/>
              </a:rPr>
              <a:t>    source: str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E5E7EB"/>
                </a:solidFill>
                <a:latin typeface="Menlo"/>
              </a:rPr>
              <a:t>    query: str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E5E7EB"/>
                </a:solidFill>
                <a:latin typeface="Menlo"/>
              </a:rPr>
              <a:t>    record_id: str | None = None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E5E7EB"/>
                </a:solidFill>
                <a:latin typeface="Menlo"/>
              </a:rPr>
              <a:t>    captured_at: datetime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E5E7EB"/>
                </a:solidFill>
                <a:latin typeface="Menlo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E5E7EB"/>
                </a:solidFill>
                <a:latin typeface="Menlo"/>
              </a:rPr>
              <a:t>class PIIMarker(BaseModel):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E5E7EB"/>
                </a:solidFill>
                <a:latin typeface="Menlo"/>
              </a:rPr>
              <a:t>    json_path: str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E5E7EB"/>
                </a:solidFill>
                <a:latin typeface="Menlo"/>
              </a:rPr>
              <a:t>    classification: Literal[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E5E7EB"/>
                </a:solidFill>
                <a:latin typeface="Menlo"/>
              </a:rPr>
              <a:t>        'pii', 'secret', 'internal', 'regulated'</a:t>
            </a:r>
          </a:p>
          <a:p>
            <a:pPr algn="l">
              <a:lnSpc>
                <a:spcPct val="115000"/>
              </a:lnSpc>
            </a:pPr>
            <a:r>
              <a:rPr sz="1300">
                <a:solidFill>
                  <a:srgbClr val="E5E7EB"/>
                </a:solidFill>
                <a:latin typeface="Menlo"/>
              </a:rPr>
              <a:t>    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</a:rPr>
              <a:t>Secmind · Atomic Investigation 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73152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D1D5DB"/>
                </a:solidFill>
                <a:latin typeface="Microsoft YaHei"/>
              </a:rPr>
              <a:t>2026-05-24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2940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4B5563"/>
                </a:solidFill>
                <a:latin typeface="Microsoft YaHei"/>
              </a:rPr>
              <a:t>secmind-investigator · P0 Technical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629400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4B5563"/>
                </a:solidFill>
                <a:latin typeface="Microsoft YaHei"/>
              </a:rPr>
              <a:t>8 /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Microsoft YaHei"/>
              </a:rPr>
              <a:t>核心抽象:AtomicCapability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234440"/>
            <a:ext cx="822960" cy="54864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325880"/>
            <a:ext cx="11247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Microsoft YaHei"/>
              </a:rPr>
              <a:t>单一职责 · 不互调 · 强 Schema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28800"/>
            <a:ext cx="54864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3B82F6"/>
                </a:solidFill>
                <a:latin typeface="Microsoft YaHei"/>
              </a:rPr>
              <a:t>■ </a:t>
            </a:r>
            <a:r>
              <a:rPr sz="1400">
                <a:solidFill>
                  <a:srgbClr val="111827"/>
                </a:solidFill>
                <a:latin typeface="Microsoft YaHei"/>
              </a:rPr>
              <a:t>每个能力声明 namespace + input_model + output_payload_model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3B82F6"/>
                </a:solidFill>
                <a:latin typeface="Microsoft YaHei"/>
              </a:rPr>
              <a:t>■ </a:t>
            </a:r>
            <a:r>
              <a:rPr sz="1400">
                <a:solidFill>
                  <a:srgbClr val="111827"/>
                </a:solidFill>
                <a:latin typeface="Microsoft YaHei"/>
              </a:rPr>
              <a:t>execute() 由子类实现,只做一件事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3B82F6"/>
                </a:solidFill>
                <a:latin typeface="Microsoft YaHei"/>
              </a:rPr>
              <a:t>■ </a:t>
            </a:r>
            <a:r>
              <a:rPr sz="1400">
                <a:solidFill>
                  <a:srgbClr val="111827"/>
                </a:solidFill>
                <a:latin typeface="Microsoft YaHei"/>
              </a:rPr>
              <a:t>run() 统一封装:输入校验 / 计时 / 异常映射 / 日志 trace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3B82F6"/>
                </a:solidFill>
                <a:latin typeface="Microsoft YaHei"/>
              </a:rPr>
              <a:t>■ </a:t>
            </a:r>
            <a:r>
              <a:rPr sz="1400">
                <a:solidFill>
                  <a:srgbClr val="111827"/>
                </a:solidFill>
                <a:latin typeface="Microsoft YaHei"/>
              </a:rPr>
              <a:t>禁止能力间互相调用,组合由 LLM Agent 完成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828800"/>
            <a:ext cx="5486400" cy="438912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920240"/>
            <a:ext cx="5212080" cy="42062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>
                <a:solidFill>
                  <a:srgbClr val="E5E7EB"/>
                </a:solidFill>
                <a:latin typeface="Menlo"/>
              </a:rPr>
              <a:t>class AtomicCapability(ABC, Generic[I, P]):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E5E7EB"/>
                </a:solidFill>
                <a:latin typeface="Menlo"/>
              </a:rPr>
              <a:t>    namespace: ClassVar[str]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E5E7EB"/>
                </a:solidFill>
                <a:latin typeface="Menlo"/>
              </a:rPr>
              <a:t>    input_model: ClassVar[type[BaseModel]]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E5E7EB"/>
                </a:solidFill>
                <a:latin typeface="Menlo"/>
              </a:rPr>
              <a:t>    output_payload_model: ClassVar[type[BaseModel]]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E5E7EB"/>
                </a:solidFill>
                <a:latin typeface="Menlo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E5E7EB"/>
                </a:solidFill>
                <a:latin typeface="Menlo"/>
              </a:rPr>
              <a:t>    async def run(self, raw: dict) -&gt; CapabilityResult[P]: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E5E7EB"/>
                </a:solidFill>
                <a:latin typeface="Menlo"/>
              </a:rPr>
              <a:t>        inp = self.input_model.model_validate(raw)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E5E7EB"/>
                </a:solidFill>
                <a:latin typeface="Menlo"/>
              </a:rPr>
              <a:t>        t0 = time.monotonic()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E5E7EB"/>
                </a:solidFill>
                <a:latin typeface="Menlo"/>
              </a:rPr>
              <a:t>        try: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E5E7EB"/>
                </a:solidFill>
                <a:latin typeface="Menlo"/>
              </a:rPr>
              <a:t>            payload = await self.execute(inp)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E5E7EB"/>
                </a:solidFill>
                <a:latin typeface="Menlo"/>
              </a:rPr>
              <a:t>            return CapabilityResult(payload=payload, ...)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E5E7EB"/>
                </a:solidFill>
                <a:latin typeface="Menlo"/>
              </a:rPr>
              <a:t>        except DataSourceUnavailable as e: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E5E7EB"/>
                </a:solidFill>
                <a:latin typeface="Menlo"/>
              </a:rPr>
              <a:t>            return self._partial(reasons=[str(e)])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E5E7EB"/>
                </a:solidFill>
                <a:latin typeface="Menlo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E5E7EB"/>
                </a:solidFill>
                <a:latin typeface="Menlo"/>
              </a:rPr>
              <a:t>    @abstractmethod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E5E7EB"/>
                </a:solidFill>
                <a:latin typeface="Menlo"/>
              </a:rPr>
              <a:t>    async def execute(self, inp: I) -&gt; P: ...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</a:rPr>
              <a:t>Secmind · Atomic Investigation 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73152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D1D5DB"/>
                </a:solidFill>
                <a:latin typeface="Microsoft YaHei"/>
              </a:rPr>
              <a:t>2026-05-24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2940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4B5563"/>
                </a:solidFill>
                <a:latin typeface="Microsoft YaHei"/>
              </a:rPr>
              <a:t>secmind-investigator · P0 Technical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629400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4B5563"/>
                </a:solidFill>
                <a:latin typeface="Microsoft YaHei"/>
              </a:rPr>
              <a:t>9 /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Microsoft YaHei"/>
              </a:rPr>
              <a:t>命名空间路由:CapabilityRegistry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234440"/>
            <a:ext cx="822960" cy="54864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325880"/>
            <a:ext cx="11247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Microsoft YaHei"/>
              </a:rPr>
              <a:t>稳定 namespace + 装饰器注册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28800"/>
            <a:ext cx="54864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3B82F6"/>
                </a:solidFill>
                <a:latin typeface="Microsoft YaHei"/>
              </a:rPr>
              <a:t>■ </a:t>
            </a:r>
            <a:r>
              <a:rPr sz="1400">
                <a:solidFill>
                  <a:srgbClr val="111827"/>
                </a:solidFill>
                <a:latin typeface="Microsoft YaHei"/>
              </a:rPr>
              <a:t>namespace 形如 investigate.&lt;category&gt;.&lt;name&gt;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3B82F6"/>
                </a:solidFill>
                <a:latin typeface="Microsoft YaHei"/>
              </a:rPr>
              <a:t>■ </a:t>
            </a:r>
            <a:r>
              <a:rPr sz="1400">
                <a:solidFill>
                  <a:srgbClr val="111827"/>
                </a:solidFill>
                <a:latin typeface="Microsoft YaHei"/>
              </a:rPr>
              <a:t>@register 装饰器:导入即注册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3B82F6"/>
                </a:solidFill>
                <a:latin typeface="Microsoft YaHei"/>
              </a:rPr>
              <a:t>■ </a:t>
            </a:r>
            <a:r>
              <a:rPr sz="1400">
                <a:solidFill>
                  <a:srgbClr val="111827"/>
                </a:solidFill>
                <a:latin typeface="Microsoft YaHei"/>
              </a:rPr>
              <a:t>Registry.resolve(ns) 返回单例能力实例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3B82F6"/>
                </a:solidFill>
                <a:latin typeface="Microsoft YaHei"/>
              </a:rPr>
              <a:t>■ </a:t>
            </a:r>
            <a:r>
              <a:rPr sz="1400">
                <a:solidFill>
                  <a:srgbClr val="111827"/>
                </a:solidFill>
                <a:latin typeface="Microsoft YaHei"/>
              </a:rPr>
              <a:t>前缀枚举(Categories)避免拼写漂移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09360" y="1828800"/>
          <a:ext cx="548640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4114800"/>
              </a:tblGrid>
              <a:tr h="525780"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类别</a:t>
                      </a:r>
                    </a:p>
                  </a:txBody>
                  <a:tcPr marL="73152" marR="73152" marT="36576" marB="36576">
                    <a:solidFill>
                      <a:srgbClr val="1F2A44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示例 namespace</a:t>
                      </a:r>
                    </a:p>
                  </a:txBody>
                  <a:tcPr marL="73152" marR="73152" marT="36576" marB="36576">
                    <a:solidFill>
                      <a:srgbClr val="1F2A44"/>
                    </a:solidFill>
                  </a:tcPr>
                </a:tc>
              </a:tr>
              <a:tr h="525780"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entity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investigate.entity.user.profile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entity</a:t>
                      </a:r>
                    </a:p>
                  </a:txBody>
                  <a:tcPr marL="73152" marR="73152" marT="36576" marB="36576">
                    <a:solidFill>
                      <a:srgbClr val="F3F4F6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investigate.entity.host.profile</a:t>
                      </a:r>
                    </a:p>
                  </a:txBody>
                  <a:tcPr marL="73152" marR="73152" marT="36576" marB="36576">
                    <a:solidFill>
                      <a:srgbClr val="F3F4F6"/>
                    </a:solidFill>
                  </a:tcPr>
                </a:tc>
              </a:tr>
              <a:tr h="525780"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activity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investigate.activity.login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intel</a:t>
                      </a:r>
                    </a:p>
                  </a:txBody>
                  <a:tcPr marL="73152" marR="73152" marT="36576" marB="36576">
                    <a:solidFill>
                      <a:srgbClr val="F3F4F6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investigate.intel.ip.reputation</a:t>
                      </a:r>
                    </a:p>
                  </a:txBody>
                  <a:tcPr marL="73152" marR="73152" marT="36576" marB="36576">
                    <a:solidFill>
                      <a:srgbClr val="F3F4F6"/>
                    </a:solidFill>
                  </a:tcPr>
                </a:tc>
              </a:tr>
              <a:tr h="525780"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relation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investigate.relation.entity_graph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verdict</a:t>
                      </a:r>
                    </a:p>
                  </a:txBody>
                  <a:tcPr marL="73152" marR="73152" marT="36576" marB="36576">
                    <a:solidFill>
                      <a:srgbClr val="F3F4F6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investigate.verdict.tp_fp</a:t>
                      </a:r>
                    </a:p>
                  </a:txBody>
                  <a:tcPr marL="73152" marR="73152" marT="36576" marB="36576">
                    <a:solidFill>
                      <a:srgbClr val="F3F4F6"/>
                    </a:solidFill>
                  </a:tcPr>
                </a:tc>
              </a:tr>
              <a:tr h="525780"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meta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investigate.meta.next_step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</a:rPr>
              <a:t>Secmind · Atomic Investigation 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73152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D1D5DB"/>
                </a:solidFill>
                <a:latin typeface="Microsoft YaHei"/>
              </a:rPr>
              <a:t>2026-05-24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2940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4B5563"/>
                </a:solidFill>
                <a:latin typeface="Microsoft YaHei"/>
              </a:rPr>
              <a:t>secmind-investigator · P0 Technical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629400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4B5563"/>
                </a:solidFill>
                <a:latin typeface="Microsoft YaHei"/>
              </a:rPr>
              <a:t>10 /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Microsoft YaHei"/>
              </a:rPr>
              <a:t>错误与降级语义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234440"/>
            <a:ext cx="822960" cy="54864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325880"/>
            <a:ext cx="11247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Microsoft YaHei"/>
              </a:rPr>
              <a:t>三种异常分级 · LLM 可读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1828800"/>
          <a:ext cx="112928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297680"/>
                <a:gridCol w="4617720"/>
              </a:tblGrid>
              <a:tr h="731520"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异常</a:t>
                      </a:r>
                    </a:p>
                  </a:txBody>
                  <a:tcPr marL="73152" marR="73152" marT="36576" marB="36576">
                    <a:solidFill>
                      <a:srgbClr val="1F2A44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行为</a:t>
                      </a:r>
                    </a:p>
                  </a:txBody>
                  <a:tcPr marL="73152" marR="73152" marT="36576" marB="36576">
                    <a:solidFill>
                      <a:srgbClr val="1F2A44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触发场景</a:t>
                      </a:r>
                    </a:p>
                  </a:txBody>
                  <a:tcPr marL="73152" marR="73152" marT="36576" marB="36576">
                    <a:solidFill>
                      <a:srgbClr val="1F2A44"/>
                    </a:solidFill>
                  </a:tcPr>
                </a:tc>
              </a:tr>
              <a:tr h="731520"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DataSourceUnavailable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run() 转 partial=True · confidence=0.0 · 不抛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API 429 / 5xx / 网络抖动 / 健康检查失败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PartialResult</a:t>
                      </a:r>
                    </a:p>
                  </a:txBody>
                  <a:tcPr marL="73152" marR="73152" marT="36576" marB="36576">
                    <a:solidFill>
                      <a:srgbClr val="F3F4F6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携带部分 payload + reasons + 较低 confidence</a:t>
                      </a:r>
                    </a:p>
                  </a:txBody>
                  <a:tcPr marL="73152" marR="73152" marT="36576" marB="36576">
                    <a:solidFill>
                      <a:srgbClr val="F3F4F6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部分字段缺失 / 只命中部分数据源 / 超时降级</a:t>
                      </a:r>
                    </a:p>
                  </a:txBody>
                  <a:tcPr marL="73152" marR="73152" marT="36576" marB="36576">
                    <a:solidFill>
                      <a:srgbClr val="F3F4F6"/>
                    </a:solidFill>
                  </a:tcPr>
                </a:tc>
              </a:tr>
              <a:tr h="731520"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CapabilityFatal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抛出 · 由上层编排器决定中断或重试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输入校验失败 / 配置缺失 / 编程错误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457200" y="5029200"/>
            <a:ext cx="11292840" cy="128016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5120640"/>
            <a:ext cx="10835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2A44"/>
                </a:solidFill>
                <a:latin typeface="Microsoft YaHei"/>
              </a:rPr>
              <a:t>降级路径示意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486400"/>
            <a:ext cx="10835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B5563"/>
                </a:solidFill>
                <a:latin typeface="Menlo"/>
              </a:rPr>
              <a:t>DataSourceUnavailable → CapabilityResult(partial=True, partial_reasons=['ds.idp.entra timeout'])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852160"/>
            <a:ext cx="10835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2A44"/>
                </a:solidFill>
                <a:latin typeface="Microsoft YaHei"/>
              </a:rPr>
              <a:t>LLM 读 partial_reasons → 决策:跳过 / 切换数据源 / 补查另一个能力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</a:rPr>
              <a:t>Secmind · Atomic Investigation 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73152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D1D5DB"/>
                </a:solidFill>
                <a:latin typeface="Microsoft YaHei"/>
              </a:rPr>
              <a:t>2026-05-24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2940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4B5563"/>
                </a:solidFill>
                <a:latin typeface="Microsoft YaHei"/>
              </a:rPr>
              <a:t>secmind-investigator · P0 Technical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629400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4B5563"/>
                </a:solidFill>
                <a:latin typeface="Microsoft YaHei"/>
              </a:rPr>
              <a:t>11 /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Microsoft YaHei"/>
              </a:rPr>
              <a:t>可观测性接入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234440"/>
            <a:ext cx="822960" cy="54864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325880"/>
            <a:ext cx="11247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Microsoft YaHei"/>
              </a:rPr>
              <a:t>每次 run() 自动出日志 + Metric + Trace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288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3B82F6"/>
                </a:solidFill>
                <a:latin typeface="Microsoft YaHei"/>
              </a:rPr>
              <a:t>Structured Log(structlog)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240280"/>
            <a:ext cx="5486400" cy="23774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331720"/>
            <a:ext cx="5212080" cy="21945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>
                <a:solidFill>
                  <a:srgbClr val="E5E7EB"/>
                </a:solidFill>
                <a:latin typeface="Menlo"/>
              </a:rPr>
              <a:t>{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E5E7EB"/>
                </a:solidFill>
                <a:latin typeface="Menlo"/>
              </a:rPr>
              <a:t>  "event": "capability.run",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E5E7EB"/>
                </a:solidFill>
                <a:latin typeface="Menlo"/>
              </a:rPr>
              <a:t>  "capability_ns": "investigate.entity.user.profile",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E5E7EB"/>
                </a:solidFill>
                <a:latin typeface="Menlo"/>
              </a:rPr>
              <a:t>  "trace_id": "9c3f...",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E5E7EB"/>
                </a:solidFill>
                <a:latin typeface="Menlo"/>
              </a:rPr>
              <a:t>  "duration_ms": 142,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E5E7EB"/>
                </a:solidFill>
                <a:latin typeface="Menlo"/>
              </a:rPr>
              <a:t>  "partial": false,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E5E7EB"/>
                </a:solidFill>
                <a:latin typeface="Menlo"/>
              </a:rPr>
              <a:t>  "confidence": 0.92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E5E7EB"/>
                </a:solidFill>
                <a:latin typeface="Menlo"/>
              </a:rPr>
              <a:t>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0B981"/>
                </a:solidFill>
                <a:latin typeface="Microsoft YaHei"/>
              </a:rPr>
              <a:t>OpenTelemetry Metric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309360" y="2240280"/>
          <a:ext cx="54864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371600"/>
                <a:gridCol w="1828800"/>
              </a:tblGrid>
              <a:tr h="475488"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指标名</a:t>
                      </a:r>
                    </a:p>
                  </a:txBody>
                  <a:tcPr marL="73152" marR="73152" marT="36576" marB="36576">
                    <a:solidFill>
                      <a:srgbClr val="1F2A44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类型</a:t>
                      </a:r>
                    </a:p>
                  </a:txBody>
                  <a:tcPr marL="73152" marR="73152" marT="36576" marB="36576">
                    <a:solidFill>
                      <a:srgbClr val="1F2A44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标签</a:t>
                      </a:r>
                    </a:p>
                  </a:txBody>
                  <a:tcPr marL="73152" marR="73152" marT="36576" marB="36576">
                    <a:solidFill>
                      <a:srgbClr val="1F2A44"/>
                    </a:solidFill>
                  </a:tcPr>
                </a:tc>
              </a:tr>
              <a:tr h="475488"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</a:rPr>
                        <a:t>capability.run.total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</a:rPr>
                        <a:t>Counter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</a:rPr>
                        <a:t>ns / partial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</a:rPr>
                        <a:t>capability.partial.total</a:t>
                      </a:r>
                    </a:p>
                  </a:txBody>
                  <a:tcPr marL="73152" marR="73152" marT="36576" marB="36576">
                    <a:solidFill>
                      <a:srgbClr val="F3F4F6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</a:rPr>
                        <a:t>Counter</a:t>
                      </a:r>
                    </a:p>
                  </a:txBody>
                  <a:tcPr marL="73152" marR="73152" marT="36576" marB="36576">
                    <a:solidFill>
                      <a:srgbClr val="F3F4F6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</a:rPr>
                        <a:t>ns / reason</a:t>
                      </a:r>
                    </a:p>
                  </a:txBody>
                  <a:tcPr marL="73152" marR="73152" marT="36576" marB="36576">
                    <a:solidFill>
                      <a:srgbClr val="F3F4F6"/>
                    </a:solidFill>
                  </a:tcPr>
                </a:tc>
              </a:tr>
              <a:tr h="475488"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</a:rPr>
                        <a:t>capability.run.duration_ms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</a:rPr>
                        <a:t>Histogram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</a:rPr>
                        <a:t>ns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</a:rPr>
                        <a:t>datasource.call.total</a:t>
                      </a:r>
                    </a:p>
                  </a:txBody>
                  <a:tcPr marL="73152" marR="73152" marT="36576" marB="36576">
                    <a:solidFill>
                      <a:srgbClr val="F3F4F6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</a:rPr>
                        <a:t>Counter</a:t>
                      </a:r>
                    </a:p>
                  </a:txBody>
                  <a:tcPr marL="73152" marR="73152" marT="36576" marB="36576">
                    <a:solidFill>
                      <a:srgbClr val="F3F4F6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</a:rPr>
                        <a:t>ds_id / status</a:t>
                      </a:r>
                    </a:p>
                  </a:txBody>
                  <a:tcPr marL="73152" marR="73152" marT="36576" marB="36576"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16" name="Rectangle 15"/>
          <p:cNvSpPr/>
          <p:nvPr/>
        </p:nvSpPr>
        <p:spPr>
          <a:xfrm>
            <a:off x="457200" y="4937760"/>
            <a:ext cx="11292840" cy="12801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937760"/>
            <a:ext cx="1129284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为 SLO 监控、故障定位、成本审计打基础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(P95 延迟、partial 率、按能力 / 数据源拆分)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</a:rPr>
              <a:t>Secmind · Atomic Investigation 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73152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D1D5DB"/>
                </a:solidFill>
                <a:latin typeface="Microsoft YaHei"/>
              </a:rPr>
              <a:t>2026-05-24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2940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4B5563"/>
                </a:solidFill>
                <a:latin typeface="Microsoft YaHei"/>
              </a:rPr>
              <a:t>secmind-investigator · P0 Technical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629400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4B5563"/>
                </a:solidFill>
                <a:latin typeface="Microsoft YaHei"/>
              </a:rPr>
              <a:t>12 /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Microsoft YaHei"/>
              </a:rPr>
              <a:t>数据源抽象:DS-XXX 一览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234440"/>
            <a:ext cx="822960" cy="54864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325880"/>
            <a:ext cx="11247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Microsoft YaHei"/>
              </a:rPr>
              <a:t>P0 必备 9 类 + P1 预留 6 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7830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3B82F6"/>
                </a:solidFill>
                <a:latin typeface="Microsoft YaHei"/>
              </a:rPr>
              <a:t>P0 必需(9 类)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2194560"/>
          <a:ext cx="548640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828800"/>
                <a:gridCol w="2560320"/>
              </a:tblGrid>
              <a:tr h="402336"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缩写</a:t>
                      </a:r>
                    </a:p>
                  </a:txBody>
                  <a:tcPr marL="73152" marR="73152" marT="36576" marB="36576">
                    <a:solidFill>
                      <a:srgbClr val="1F2A44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含义</a:t>
                      </a:r>
                    </a:p>
                  </a:txBody>
                  <a:tcPr marL="73152" marR="73152" marT="36576" marB="36576">
                    <a:solidFill>
                      <a:srgbClr val="1F2A44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典型厂商</a:t>
                      </a:r>
                    </a:p>
                  </a:txBody>
                  <a:tcPr marL="73152" marR="73152" marT="36576" marB="36576">
                    <a:solidFill>
                      <a:srgbClr val="1F2A44"/>
                    </a:solidFill>
                  </a:tcPr>
                </a:tc>
              </a:tr>
              <a:tr h="402336"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</a:rPr>
                        <a:t>DS-IDP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</a:rPr>
                        <a:t>身份与认证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</a:rPr>
                        <a:t>Entra ID / Okta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</a:rPr>
                        <a:t>DS-HR</a:t>
                      </a:r>
                    </a:p>
                  </a:txBody>
                  <a:tcPr marL="73152" marR="73152" marT="36576" marB="36576">
                    <a:solidFill>
                      <a:srgbClr val="F3F4F6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</a:rPr>
                        <a:t>人事系统</a:t>
                      </a:r>
                    </a:p>
                  </a:txBody>
                  <a:tcPr marL="73152" marR="73152" marT="36576" marB="36576">
                    <a:solidFill>
                      <a:srgbClr val="F3F4F6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</a:rPr>
                        <a:t>Workday / 飞书</a:t>
                      </a:r>
                    </a:p>
                  </a:txBody>
                  <a:tcPr marL="73152" marR="73152" marT="36576" marB="36576">
                    <a:solidFill>
                      <a:srgbClr val="F3F4F6"/>
                    </a:solidFill>
                  </a:tcPr>
                </a:tc>
              </a:tr>
              <a:tr h="402336"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</a:rPr>
                        <a:t>DS-CMDB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</a:rPr>
                        <a:t>资产配置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</a:rPr>
                        <a:t>ServiceNow / Lansweeper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</a:rPr>
                        <a:t>DS-EDR</a:t>
                      </a:r>
                    </a:p>
                  </a:txBody>
                  <a:tcPr marL="73152" marR="73152" marT="36576" marB="36576">
                    <a:solidFill>
                      <a:srgbClr val="F3F4F6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</a:rPr>
                        <a:t>终端检测响应</a:t>
                      </a:r>
                    </a:p>
                  </a:txBody>
                  <a:tcPr marL="73152" marR="73152" marT="36576" marB="36576">
                    <a:solidFill>
                      <a:srgbClr val="F3F4F6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</a:rPr>
                        <a:t>CrowdStrike / SentinelOne</a:t>
                      </a:r>
                    </a:p>
                  </a:txBody>
                  <a:tcPr marL="73152" marR="73152" marT="36576" marB="36576">
                    <a:solidFill>
                      <a:srgbClr val="F3F4F6"/>
                    </a:solidFill>
                  </a:tcPr>
                </a:tc>
              </a:tr>
              <a:tr h="402336"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</a:rPr>
                        <a:t>DS-SIEM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</a:rPr>
                        <a:t>日志与告警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</a:rPr>
                        <a:t>Splunk / Sentinel / Chronicle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</a:rPr>
                        <a:t>DS-EMAIL</a:t>
                      </a:r>
                    </a:p>
                  </a:txBody>
                  <a:tcPr marL="73152" marR="73152" marT="36576" marB="36576">
                    <a:solidFill>
                      <a:srgbClr val="F3F4F6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</a:rPr>
                        <a:t>邮件安全</a:t>
                      </a:r>
                    </a:p>
                  </a:txBody>
                  <a:tcPr marL="73152" marR="73152" marT="36576" marB="36576">
                    <a:solidFill>
                      <a:srgbClr val="F3F4F6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</a:rPr>
                        <a:t>M365 / Proofpoint</a:t>
                      </a:r>
                    </a:p>
                  </a:txBody>
                  <a:tcPr marL="73152" marR="73152" marT="36576" marB="36576">
                    <a:solidFill>
                      <a:srgbClr val="F3F4F6"/>
                    </a:solidFill>
                  </a:tcPr>
                </a:tc>
              </a:tr>
              <a:tr h="402336"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</a:rPr>
                        <a:t>DS-FW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</a:rPr>
                        <a:t>网络防火墙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</a:rPr>
                        <a:t>Palo Alto / Fortinet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</a:rPr>
                        <a:t>DS-TI</a:t>
                      </a:r>
                    </a:p>
                  </a:txBody>
                  <a:tcPr marL="73152" marR="73152" marT="36576" marB="36576">
                    <a:solidFill>
                      <a:srgbClr val="F3F4F6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</a:rPr>
                        <a:t>威胁情报</a:t>
                      </a:r>
                    </a:p>
                  </a:txBody>
                  <a:tcPr marL="73152" marR="73152" marT="36576" marB="36576">
                    <a:solidFill>
                      <a:srgbClr val="F3F4F6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</a:rPr>
                        <a:t>VT / OTX / 商业 TI</a:t>
                      </a:r>
                    </a:p>
                  </a:txBody>
                  <a:tcPr marL="73152" marR="73152" marT="36576" marB="36576">
                    <a:solidFill>
                      <a:srgbClr val="F3F4F6"/>
                    </a:solidFill>
                  </a:tcPr>
                </a:tc>
              </a:tr>
              <a:tr h="402336"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</a:rPr>
                        <a:t>DS-KB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</a:rPr>
                        <a:t>知识库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</a:rPr>
                        <a:t>Confluence / Runbook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309360" y="17830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Microsoft YaHei"/>
              </a:rPr>
              <a:t>P1 预留(6 类)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309360" y="2194560"/>
          <a:ext cx="54864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657600"/>
              </a:tblGrid>
              <a:tr h="457200"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缩写</a:t>
                      </a:r>
                    </a:p>
                  </a:txBody>
                  <a:tcPr marL="73152" marR="73152" marT="36576" marB="36576">
                    <a:solidFill>
                      <a:srgbClr val="1F2A44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含义</a:t>
                      </a:r>
                    </a:p>
                  </a:txBody>
                  <a:tcPr marL="73152" marR="73152" marT="36576" marB="36576">
                    <a:solidFill>
                      <a:srgbClr val="1F2A44"/>
                    </a:solidFill>
                  </a:tcPr>
                </a:tc>
              </a:tr>
              <a:tr h="457200"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</a:rPr>
                        <a:t>DS-NDR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</a:rPr>
                        <a:t>网络检测响应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</a:rPr>
                        <a:t>DS-CLOUD</a:t>
                      </a:r>
                    </a:p>
                  </a:txBody>
                  <a:tcPr marL="73152" marR="73152" marT="36576" marB="36576">
                    <a:solidFill>
                      <a:srgbClr val="F3F4F6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</a:rPr>
                        <a:t>云审计日志</a:t>
                      </a:r>
                    </a:p>
                  </a:txBody>
                  <a:tcPr marL="73152" marR="73152" marT="36576" marB="36576"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</a:rPr>
                        <a:t>DS-SANDBOX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</a:rPr>
                        <a:t>沙箱动态分析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</a:rPr>
                        <a:t>DS-PAM</a:t>
                      </a:r>
                    </a:p>
                  </a:txBody>
                  <a:tcPr marL="73152" marR="73152" marT="36576" marB="36576">
                    <a:solidFill>
                      <a:srgbClr val="F3F4F6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</a:rPr>
                        <a:t>特权访问管理</a:t>
                      </a:r>
                    </a:p>
                  </a:txBody>
                  <a:tcPr marL="73152" marR="73152" marT="36576" marB="36576"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</a:rPr>
                        <a:t>DS-VULN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</a:rPr>
                        <a:t>漏洞扫描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</a:rPr>
                        <a:t>DS-WHOIS</a:t>
                      </a:r>
                    </a:p>
                  </a:txBody>
                  <a:tcPr marL="73152" marR="73152" marT="36576" marB="36576">
                    <a:solidFill>
                      <a:srgbClr val="F3F4F6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</a:rPr>
                        <a:t>域名注册信息</a:t>
                      </a:r>
                    </a:p>
                  </a:txBody>
                  <a:tcPr marL="73152" marR="73152" marT="36576" marB="36576"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6309360" y="5532120"/>
            <a:ext cx="5486400" cy="64008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5532120"/>
            <a:ext cx="54864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圆点约定:● 必需  ○ 可选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</a:rPr>
              <a:t>Secmind · Atomic Investigation 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73152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D1D5DB"/>
                </a:solidFill>
                <a:latin typeface="Microsoft YaHei"/>
              </a:rPr>
              <a:t>2026-05-24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2940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4B5563"/>
                </a:solidFill>
                <a:latin typeface="Microsoft YaHei"/>
              </a:rPr>
              <a:t>secmind-investigator · P0 Technical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629400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4B5563"/>
                </a:solidFill>
                <a:latin typeface="Microsoft YaHei"/>
              </a:rPr>
              <a:t>13 /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Microsoft YaHei"/>
              </a:rPr>
              <a:t>DataSource ABC · 限速 · Mock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234440"/>
            <a:ext cx="822960" cy="54864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325880"/>
            <a:ext cx="11247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Microsoft YaHei"/>
              </a:rPr>
              <a:t>可替换的厂商接入点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28800"/>
            <a:ext cx="54864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3B82F6"/>
                </a:solidFill>
                <a:latin typeface="Microsoft YaHei"/>
              </a:rPr>
              <a:t>■ </a:t>
            </a:r>
            <a:r>
              <a:rPr sz="1400">
                <a:solidFill>
                  <a:srgbClr val="111827"/>
                </a:solidFill>
                <a:latin typeface="Microsoft YaHei"/>
              </a:rPr>
              <a:t>DataSource ABC 强制实现 id / healthcheck() / close()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3B82F6"/>
                </a:solidFill>
                <a:latin typeface="Microsoft YaHei"/>
              </a:rPr>
              <a:t>■ </a:t>
            </a:r>
            <a:r>
              <a:rPr sz="1400">
                <a:solidFill>
                  <a:srgbClr val="111827"/>
                </a:solidFill>
                <a:latin typeface="Microsoft YaHei"/>
              </a:rPr>
              <a:t>@rate_limited(rps=...) 装饰器:简单令牌桶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3B82F6"/>
                </a:solidFill>
                <a:latin typeface="Microsoft YaHei"/>
              </a:rPr>
              <a:t>■ </a:t>
            </a:r>
            <a:r>
              <a:rPr sz="1400">
                <a:solidFill>
                  <a:srgbClr val="111827"/>
                </a:solidFill>
                <a:latin typeface="Microsoft YaHei"/>
              </a:rPr>
              <a:t>InMemoryDataSource 供单测 + Demo 复用</a:t>
            </a:r>
          </a:p>
          <a:p>
            <a:pPr algn="l">
              <a:lnSpc>
                <a:spcPct val="150000"/>
              </a:lnSpc>
            </a:pPr>
            <a:r>
              <a:rPr sz="1400" b="1">
                <a:solidFill>
                  <a:srgbClr val="3B82F6"/>
                </a:solidFill>
                <a:latin typeface="Microsoft YaHei"/>
              </a:rPr>
              <a:t>■ </a:t>
            </a:r>
            <a:r>
              <a:rPr sz="1400">
                <a:solidFill>
                  <a:srgbClr val="111827"/>
                </a:solidFill>
                <a:latin typeface="Microsoft YaHei"/>
              </a:rPr>
              <a:t>厂商实现:子类化 ABC + 注册到 DataSourceRegistry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828800"/>
            <a:ext cx="5486400" cy="42062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920240"/>
            <a:ext cx="5212080" cy="4023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>
                <a:solidFill>
                  <a:srgbClr val="E5E7EB"/>
                </a:solidFill>
                <a:latin typeface="Menlo"/>
              </a:rPr>
              <a:t>class DataSource(ABC):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E5E7EB"/>
                </a:solidFill>
                <a:latin typeface="Menlo"/>
              </a:rPr>
              <a:t>    id: ClassVar[str]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E5E7EB"/>
                </a:solidFill>
                <a:latin typeface="Menlo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E5E7EB"/>
                </a:solidFill>
                <a:latin typeface="Menlo"/>
              </a:rPr>
              <a:t>    @abstractmethod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E5E7EB"/>
                </a:solidFill>
                <a:latin typeface="Menlo"/>
              </a:rPr>
              <a:t>    async def healthcheck(self) -&gt; bool: ...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E5E7EB"/>
                </a:solidFill>
                <a:latin typeface="Menlo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E5E7EB"/>
                </a:solidFill>
                <a:latin typeface="Menlo"/>
              </a:rPr>
              <a:t>    @abstractmethod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E5E7EB"/>
                </a:solidFill>
                <a:latin typeface="Menlo"/>
              </a:rPr>
              <a:t>    async def close(self) -&gt; None: ...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E5E7EB"/>
                </a:solidFill>
                <a:latin typeface="Menlo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E5E7EB"/>
                </a:solidFill>
                <a:latin typeface="Menlo"/>
              </a:rPr>
              <a:t>@rate_limited(rps=20)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E5E7EB"/>
                </a:solidFill>
                <a:latin typeface="Menlo"/>
              </a:rPr>
              <a:t>class EntraIDPSource(DataSource):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E5E7EB"/>
                </a:solidFill>
                <a:latin typeface="Menlo"/>
              </a:rPr>
              <a:t>    id = 'ds.idp.entra'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E5E7EB"/>
                </a:solidFill>
                <a:latin typeface="Menlo"/>
              </a:rPr>
              <a:t>    async def lookup_user(self, upn): ...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</a:rPr>
              <a:t>Secmind · Atomic Investigation 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73152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D1D5DB"/>
                </a:solidFill>
                <a:latin typeface="Microsoft YaHei"/>
              </a:rPr>
              <a:t>2026-05-24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2940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4B5563"/>
                </a:solidFill>
                <a:latin typeface="Microsoft YaHei"/>
              </a:rPr>
              <a:t>secmind-investigator · P0 Technical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629400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4B5563"/>
                </a:solidFill>
                <a:latin typeface="Microsoft YaHei"/>
              </a:rPr>
              <a:t>14 /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Microsoft YaHei"/>
              </a:rPr>
              <a:t>P0 原子能力清单(类别视图)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234440"/>
            <a:ext cx="822960" cy="54864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325880"/>
            <a:ext cx="11247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Microsoft YaHei"/>
              </a:rPr>
              <a:t>6 大类别 · 共 25 个能力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1828800"/>
          <a:ext cx="1129284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097280"/>
                <a:gridCol w="8001000"/>
              </a:tblGrid>
              <a:tr h="574765"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类别</a:t>
                      </a:r>
                    </a:p>
                  </a:txBody>
                  <a:tcPr marL="73152" marR="73152" marT="36576" marB="36576">
                    <a:solidFill>
                      <a:srgbClr val="1F2A44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能力数</a:t>
                      </a:r>
                    </a:p>
                  </a:txBody>
                  <a:tcPr marL="73152" marR="73152" marT="36576" marB="36576">
                    <a:solidFill>
                      <a:srgbClr val="1F2A44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示例</a:t>
                      </a:r>
                    </a:p>
                  </a:txBody>
                  <a:tcPr marL="73152" marR="73152" marT="36576" marB="36576">
                    <a:solidFill>
                      <a:srgbClr val="1F2A44"/>
                    </a:solidFill>
                  </a:tcPr>
                </a:tc>
              </a:tr>
              <a:tr h="574765"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Entity 实体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A1 user / A2 host / A4 ip / A5 domain / A7 file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74765"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Activity 活动</a:t>
                      </a:r>
                    </a:p>
                  </a:txBody>
                  <a:tcPr marL="73152" marR="73152" marT="36576" marB="36576">
                    <a:solidFill>
                      <a:srgbClr val="F3F4F6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L="73152" marR="73152" marT="36576" marB="36576">
                    <a:solidFill>
                      <a:srgbClr val="F3F4F6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B1 login / B3 process / B4 network / B8 email</a:t>
                      </a:r>
                    </a:p>
                  </a:txBody>
                  <a:tcPr marL="73152" marR="73152" marT="36576" marB="36576">
                    <a:solidFill>
                      <a:srgbClr val="F3F4F6"/>
                    </a:solidFill>
                  </a:tcPr>
                </a:tc>
              </a:tr>
              <a:tr h="574765"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Relation 关联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C1 cooccurrence / C2 entity_graph / C3 process_lineage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74765"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Context 上下文</a:t>
                      </a:r>
                    </a:p>
                  </a:txBody>
                  <a:tcPr marL="73152" marR="73152" marT="36576" marB="36576">
                    <a:solidFill>
                      <a:srgbClr val="F3F4F6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3</a:t>
                      </a:r>
                    </a:p>
                  </a:txBody>
                  <a:tcPr marL="73152" marR="73152" marT="36576" marB="36576">
                    <a:solidFill>
                      <a:srgbClr val="F3F4F6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D1 asset_business / D2 user_identity / D5 baseline_self</a:t>
                      </a:r>
                    </a:p>
                  </a:txBody>
                  <a:tcPr marL="73152" marR="73152" marT="36576" marB="36576">
                    <a:solidFill>
                      <a:srgbClr val="F3F4F6"/>
                    </a:solidFill>
                  </a:tcPr>
                </a:tc>
              </a:tr>
              <a:tr h="574765"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Intel 情报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E1 ip_rep / E2 domain_url_rep / E3 hash_rep / E7 ttp_mitre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574770"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Verdict + Meta</a:t>
                      </a:r>
                    </a:p>
                  </a:txBody>
                  <a:tcPr marL="73152" marR="73152" marT="36576" marB="36576">
                    <a:solidFill>
                      <a:srgbClr val="F3F4F6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6</a:t>
                      </a:r>
                    </a:p>
                  </a:txBody>
                  <a:tcPr marL="73152" marR="73152" marT="36576" marB="36576">
                    <a:solidFill>
                      <a:srgbClr val="F3F4F6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F1 TP/FP · F2 impact · F4 ioc · F8 response · G3 next · G4 kb</a:t>
                      </a:r>
                    </a:p>
                  </a:txBody>
                  <a:tcPr marL="73152" marR="73152" marT="36576" marB="36576"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457200" y="5989320"/>
            <a:ext cx="11292840" cy="4572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5989320"/>
            <a:ext cx="112928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25 个能力全部进 Registry,LLM Agent 通过 namespace 直接调用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</a:rPr>
              <a:t>Secmind · Atomic Investigation 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73152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D1D5DB"/>
                </a:solidFill>
                <a:latin typeface="Microsoft YaHei"/>
              </a:rPr>
              <a:t>2026-05-24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2940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4B5563"/>
                </a:solidFill>
                <a:latin typeface="Microsoft YaHei"/>
              </a:rPr>
              <a:t>secmind-investigator · P0 Technical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629400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4B5563"/>
                </a:solidFill>
                <a:latin typeface="Microsoft YaHei"/>
              </a:rPr>
              <a:t>15 /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Microsoft YaHei"/>
              </a:rPr>
              <a:t>重点能力示例:A1 用户/账户画像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234440"/>
            <a:ext cx="822960" cy="54864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325880"/>
            <a:ext cx="11247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Microsoft YaHei"/>
              </a:rPr>
              <a:t>investigate.entity.user.profile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1828800"/>
          <a:ext cx="54864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4206240"/>
              </a:tblGrid>
              <a:tr h="475488"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项</a:t>
                      </a:r>
                    </a:p>
                  </a:txBody>
                  <a:tcPr marL="73152" marR="73152" marT="36576" marB="36576">
                    <a:solidFill>
                      <a:srgbClr val="1F2A44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值</a:t>
                      </a:r>
                    </a:p>
                  </a:txBody>
                  <a:tcPr marL="73152" marR="73152" marT="36576" marB="36576">
                    <a:solidFill>
                      <a:srgbClr val="1F2A44"/>
                    </a:solidFill>
                  </a:tcPr>
                </a:tc>
              </a:tr>
              <a:tr h="475488"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namespace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investigate.entity.user.profile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输入</a:t>
                      </a:r>
                    </a:p>
                  </a:txBody>
                  <a:tcPr marL="73152" marR="73152" marT="36576" marB="36576">
                    <a:solidFill>
                      <a:srgbClr val="F3F4F6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principal:str(邮箱 / UPN)</a:t>
                      </a:r>
                    </a:p>
                  </a:txBody>
                  <a:tcPr marL="73152" marR="73152" marT="36576" marB="36576">
                    <a:solidFill>
                      <a:srgbClr val="F3F4F6"/>
                    </a:solidFill>
                  </a:tcPr>
                </a:tc>
              </a:tr>
              <a:tr h="475488"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数据源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DS-IDP●  DS-HR●  DS-CMDB○  DS-EMAIL○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典型耗时</a:t>
                      </a:r>
                    </a:p>
                  </a:txBody>
                  <a:tcPr marL="73152" marR="73152" marT="36576" marB="36576">
                    <a:solidFill>
                      <a:srgbClr val="F3F4F6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&lt; 800 ms (P95,Mock 数据源)</a:t>
                      </a:r>
                    </a:p>
                  </a:txBody>
                  <a:tcPr marL="73152" marR="73152" marT="36576" marB="36576"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2A44"/>
                </a:solidFill>
                <a:latin typeface="Microsoft YaHei"/>
              </a:rPr>
              <a:t>Payload 关键字段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240280"/>
            <a:ext cx="54864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1">
                <a:solidFill>
                  <a:srgbClr val="3B82F6"/>
                </a:solidFill>
                <a:latin typeface="Microsoft YaHei"/>
              </a:rPr>
              <a:t>■ </a:t>
            </a:r>
            <a:r>
              <a:rPr sz="1300">
                <a:solidFill>
                  <a:srgbClr val="111827"/>
                </a:solidFill>
                <a:latin typeface="Microsoft YaHei"/>
              </a:rPr>
              <a:t>identity:UPN / 状态 / MFA / 风险等级</a:t>
            </a:r>
          </a:p>
          <a:p>
            <a:pPr algn="l">
              <a:lnSpc>
                <a:spcPct val="140000"/>
              </a:lnSpc>
            </a:pPr>
            <a:r>
              <a:rPr sz="1300" b="1">
                <a:solidFill>
                  <a:srgbClr val="3B82F6"/>
                </a:solidFill>
                <a:latin typeface="Microsoft YaHei"/>
              </a:rPr>
              <a:t>■ </a:t>
            </a:r>
            <a:r>
              <a:rPr sz="1300">
                <a:solidFill>
                  <a:srgbClr val="111827"/>
                </a:solidFill>
                <a:latin typeface="Microsoft YaHei"/>
              </a:rPr>
              <a:t>hr:部门 / 岗位 / 直属上级 / 在/离职态</a:t>
            </a:r>
          </a:p>
          <a:p>
            <a:pPr algn="l">
              <a:lnSpc>
                <a:spcPct val="140000"/>
              </a:lnSpc>
            </a:pPr>
            <a:r>
              <a:rPr sz="1300" b="1">
                <a:solidFill>
                  <a:srgbClr val="3B82F6"/>
                </a:solidFill>
                <a:latin typeface="Microsoft YaHei"/>
              </a:rPr>
              <a:t>■ </a:t>
            </a:r>
            <a:r>
              <a:rPr sz="1300">
                <a:solidFill>
                  <a:srgbClr val="111827"/>
                </a:solidFill>
                <a:latin typeface="Microsoft YaHei"/>
              </a:rPr>
              <a:t>device_links:绑定的设备 id 列表</a:t>
            </a:r>
          </a:p>
          <a:p>
            <a:pPr algn="l">
              <a:lnSpc>
                <a:spcPct val="140000"/>
              </a:lnSpc>
            </a:pPr>
            <a:r>
              <a:rPr sz="1300" b="1">
                <a:solidFill>
                  <a:srgbClr val="3B82F6"/>
                </a:solidFill>
                <a:latin typeface="Microsoft YaHei"/>
              </a:rPr>
              <a:t>■ </a:t>
            </a:r>
            <a:r>
              <a:rPr sz="1300">
                <a:solidFill>
                  <a:srgbClr val="111827"/>
                </a:solidFill>
                <a:latin typeface="Microsoft YaHei"/>
              </a:rPr>
              <a:t>mailbox:邮箱归属 / 转发规则</a:t>
            </a:r>
          </a:p>
          <a:p>
            <a:pPr algn="l">
              <a:lnSpc>
                <a:spcPct val="140000"/>
              </a:lnSpc>
            </a:pPr>
            <a:r>
              <a:rPr sz="1300" b="1">
                <a:solidFill>
                  <a:srgbClr val="3B82F6"/>
                </a:solidFill>
                <a:latin typeface="Microsoft YaHei"/>
              </a:rPr>
              <a:t>■ </a:t>
            </a:r>
            <a:r>
              <a:rPr sz="1300">
                <a:solidFill>
                  <a:srgbClr val="111827"/>
                </a:solidFill>
                <a:latin typeface="Microsoft YaHei"/>
              </a:rPr>
              <a:t>risk_signals:近 30 天高危登录 / 异地告警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5532120"/>
            <a:ext cx="11292840" cy="7315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5532120"/>
            <a:ext cx="112928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LLM 据此判断:是否高敏感用户 / 是否启用 MFA / 是否离职态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</a:rPr>
              <a:t>Secmind · Atomic Investigation 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73152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D1D5DB"/>
                </a:solidFill>
                <a:latin typeface="Microsoft YaHei"/>
              </a:rPr>
              <a:t>2026-05-24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2940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4B5563"/>
                </a:solidFill>
                <a:latin typeface="Microsoft YaHei"/>
              </a:rPr>
              <a:t>secmind-investigator · P0 Technical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629400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4B5563"/>
                </a:solidFill>
                <a:latin typeface="Microsoft YaHei"/>
              </a:rPr>
              <a:t>16 /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Microsoft YaHei"/>
              </a:rPr>
              <a:t>重点能力示例:F1 TP/FP 判定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234440"/>
            <a:ext cx="822960" cy="54864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325880"/>
            <a:ext cx="11247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Microsoft YaHei"/>
              </a:rPr>
              <a:t>investigate.verdict.tp_fp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1828800"/>
          <a:ext cx="54864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4023360"/>
              </a:tblGrid>
              <a:tr h="475488"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项</a:t>
                      </a:r>
                    </a:p>
                  </a:txBody>
                  <a:tcPr marL="73152" marR="73152" marT="36576" marB="36576">
                    <a:solidFill>
                      <a:srgbClr val="1F2A44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值</a:t>
                      </a:r>
                    </a:p>
                  </a:txBody>
                  <a:tcPr marL="73152" marR="73152" marT="36576" marB="36576">
                    <a:solidFill>
                      <a:srgbClr val="1F2A44"/>
                    </a:solidFill>
                  </a:tcPr>
                </a:tc>
              </a:tr>
              <a:tr h="475488"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namespace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investigate.verdict.tp_fp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输入</a:t>
                      </a:r>
                    </a:p>
                  </a:txBody>
                  <a:tcPr marL="73152" marR="73152" marT="36576" marB="36576">
                    <a:solidFill>
                      <a:srgbClr val="F3F4F6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evidence_set: list[CapabilityResult]</a:t>
                      </a:r>
                    </a:p>
                  </a:txBody>
                  <a:tcPr marL="73152" marR="73152" marT="36576" marB="36576">
                    <a:solidFill>
                      <a:srgbClr val="F3F4F6"/>
                    </a:solidFill>
                  </a:tcPr>
                </a:tc>
              </a:tr>
              <a:tr h="475488"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输出 verdict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TP / FP / BP(Benign Positive) / INC(Inconclusive)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输出附加</a:t>
                      </a:r>
                    </a:p>
                  </a:txBody>
                  <a:tcPr marL="73152" marR="73152" marT="36576" marB="36576">
                    <a:solidFill>
                      <a:srgbClr val="F3F4F6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rationale · missing_evidence · confidence</a:t>
                      </a:r>
                    </a:p>
                  </a:txBody>
                  <a:tcPr marL="73152" marR="73152" marT="36576" marB="36576"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2A44"/>
                </a:solidFill>
                <a:latin typeface="Microsoft YaHei"/>
              </a:rPr>
              <a:t>判定 → 不确定性 → 补查 闭环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2377440"/>
            <a:ext cx="1691640" cy="82296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2377440"/>
            <a:ext cx="16916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F1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TP/FP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83879" y="2377440"/>
            <a:ext cx="1691640" cy="82296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79" y="2377440"/>
            <a:ext cx="16916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missing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_evidence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058400" y="2377440"/>
            <a:ext cx="1691640" cy="8229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0" y="2377440"/>
            <a:ext cx="16916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G3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next_step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28431" y="2377440"/>
            <a:ext cx="2286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4B5563"/>
                </a:solidFill>
                <a:latin typeface="Microsoft YaHei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02952" y="2377440"/>
            <a:ext cx="2286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4B5563"/>
                </a:solidFill>
                <a:latin typeface="Microsoft YaHei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474720"/>
            <a:ext cx="54864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1">
                <a:solidFill>
                  <a:srgbClr val="3B82F6"/>
                </a:solidFill>
                <a:latin typeface="Microsoft YaHei"/>
              </a:rPr>
              <a:t>■ </a:t>
            </a:r>
            <a:r>
              <a:rPr sz="1200">
                <a:solidFill>
                  <a:srgbClr val="111827"/>
                </a:solidFill>
                <a:latin typeface="Microsoft YaHei"/>
              </a:rPr>
              <a:t>F1 给出判定 + 缺失证据列表</a:t>
            </a:r>
          </a:p>
          <a:p>
            <a:pPr algn="l">
              <a:lnSpc>
                <a:spcPct val="140000"/>
              </a:lnSpc>
            </a:pPr>
            <a:r>
              <a:rPr sz="1200" b="1">
                <a:solidFill>
                  <a:srgbClr val="3B82F6"/>
                </a:solidFill>
                <a:latin typeface="Microsoft YaHei"/>
              </a:rPr>
              <a:t>■ </a:t>
            </a:r>
            <a:r>
              <a:rPr sz="1200">
                <a:solidFill>
                  <a:srgbClr val="111827"/>
                </a:solidFill>
                <a:latin typeface="Microsoft YaHei"/>
              </a:rPr>
              <a:t>G3 next_step 把缺失证据映射成下一步能力调用</a:t>
            </a:r>
          </a:p>
          <a:p>
            <a:pPr algn="l">
              <a:lnSpc>
                <a:spcPct val="140000"/>
              </a:lnSpc>
            </a:pPr>
            <a:r>
              <a:rPr sz="1200" b="1">
                <a:solidFill>
                  <a:srgbClr val="3B82F6"/>
                </a:solidFill>
                <a:latin typeface="Microsoft YaHei"/>
              </a:rPr>
              <a:t>■ </a:t>
            </a:r>
            <a:r>
              <a:rPr sz="1200">
                <a:solidFill>
                  <a:srgbClr val="111827"/>
                </a:solidFill>
                <a:latin typeface="Microsoft YaHei"/>
              </a:rPr>
              <a:t>形成可解释、可追问的调查闭环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532120"/>
            <a:ext cx="11292840" cy="7315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5532120"/>
            <a:ext cx="112928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Verdict ≠ 终结,Verdict + missing_evidence + next_step = 自驱调查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</a:rPr>
              <a:t>Secmind · Atomic Investigation 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73152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D1D5DB"/>
                </a:solidFill>
                <a:latin typeface="Microsoft YaHei"/>
              </a:rPr>
              <a:t>2026-05-24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2940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4B5563"/>
                </a:solidFill>
                <a:latin typeface="Microsoft YaHei"/>
              </a:rPr>
              <a:t>secmind-investigator · P0 Technical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629400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4B5563"/>
                </a:solidFill>
                <a:latin typeface="Microsoft YaHei"/>
              </a:rPr>
              <a:t>17 /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Microsoft YaHei"/>
              </a:rPr>
              <a:t>端到端钓鱼场景演示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234440"/>
            <a:ext cx="822960" cy="54864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325880"/>
            <a:ext cx="11247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Microsoft YaHei"/>
              </a:rPr>
              <a:t>Alert → 6 个原子能力 → containment 建议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011680"/>
            <a:ext cx="1828800" cy="210312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011680"/>
            <a:ext cx="1828800" cy="36576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0116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468880"/>
            <a:ext cx="1645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2A44"/>
                </a:solidFill>
                <a:latin typeface="Microsoft YaHei"/>
              </a:rPr>
              <a:t>A1 UserProfile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971800"/>
            <a:ext cx="16459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Microsoft YaHei"/>
              </a:rPr>
              <a:t>查收件人画像 / MFA / 离职态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50008" y="2011680"/>
            <a:ext cx="1828800" cy="210312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350008" y="2011680"/>
            <a:ext cx="1828800" cy="36576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350008" y="20116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41448" y="2468880"/>
            <a:ext cx="1645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2A44"/>
                </a:solidFill>
                <a:latin typeface="Microsoft YaHei"/>
              </a:rPr>
              <a:t>B8 EmailActivity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41448" y="2971800"/>
            <a:ext cx="16459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Microsoft YaHei"/>
              </a:rPr>
              <a:t>调取告警邮件元数据 / 链接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42816" y="2011680"/>
            <a:ext cx="1828800" cy="210312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42816" y="2011680"/>
            <a:ext cx="1828800" cy="365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42816" y="20116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34256" y="2468880"/>
            <a:ext cx="1645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2A44"/>
                </a:solidFill>
                <a:latin typeface="Microsoft YaHei"/>
              </a:rPr>
              <a:t>E2 URL Reputation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34256" y="2971800"/>
            <a:ext cx="16459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Microsoft YaHei"/>
              </a:rPr>
              <a:t>查链接信誉 / 域名年龄 / 黑名单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35624" y="2011680"/>
            <a:ext cx="1828800" cy="210312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35624" y="2011680"/>
            <a:ext cx="1828800" cy="36576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35624" y="20116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27064" y="2468880"/>
            <a:ext cx="1645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2A44"/>
                </a:solidFill>
                <a:latin typeface="Microsoft YaHei"/>
              </a:rPr>
              <a:t>F1 TP/FP Verdict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27064" y="2971800"/>
            <a:ext cx="16459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Microsoft YaHei"/>
              </a:rPr>
              <a:t>verdict = TP · confidence 0.91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28432" y="2011680"/>
            <a:ext cx="1828800" cy="210312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28432" y="2011680"/>
            <a:ext cx="1828800" cy="3657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28432" y="20116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19872" y="2468880"/>
            <a:ext cx="1645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2A44"/>
                </a:solidFill>
                <a:latin typeface="Microsoft YaHei"/>
              </a:rPr>
              <a:t>F4 IOC Extract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19872" y="2971800"/>
            <a:ext cx="16459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Microsoft YaHei"/>
              </a:rPr>
              <a:t>≥3 IOCs(URL / 域名 / 哈希)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921240" y="2011680"/>
            <a:ext cx="1828800" cy="210312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921240" y="2011680"/>
            <a:ext cx="1828800" cy="3657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921240" y="20116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12680" y="2468880"/>
            <a:ext cx="1645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2A44"/>
                </a:solidFill>
                <a:latin typeface="Microsoft YaHei"/>
              </a:rPr>
              <a:t>F8 Response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12680" y="2971800"/>
            <a:ext cx="16459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Microsoft YaHei"/>
              </a:rPr>
              <a:t>containment 建议 + Runbook 引用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1691640"/>
            <a:ext cx="11292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F4444"/>
                </a:solidFill>
                <a:latin typeface="Microsoft YaHei"/>
              </a:rPr>
              <a:t>Alert(钓鱼链接)→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4572000"/>
            <a:ext cx="11292840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4572000"/>
            <a:ext cx="1129284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6 个原子能力,全部 Mock 数据源,端到端 &lt; 2 秒完成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5669280"/>
            <a:ext cx="11292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4B5563"/>
                </a:solidFill>
                <a:latin typeface="Microsoft YaHei"/>
              </a:rPr>
              <a:t>演示意义:验证 Schema / Registry / 错误降级 / Observability 链路通畅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</a:rPr>
              <a:t>Secmind · Atomic Investigation 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73152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D1D5DB"/>
                </a:solidFill>
                <a:latin typeface="Microsoft YaHei"/>
              </a:rPr>
              <a:t>2026-05-24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2940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4B5563"/>
                </a:solidFill>
                <a:latin typeface="Microsoft YaHei"/>
              </a:rPr>
              <a:t>secmind-investigator · P0 Technical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629400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4B5563"/>
                </a:solidFill>
                <a:latin typeface="Microsoft YaHei"/>
              </a:rPr>
              <a:t>18 /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Microsoft YaHei"/>
              </a:rPr>
              <a:t>钓鱼场景代码片段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234440"/>
            <a:ext cx="822960" cy="54864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325880"/>
            <a:ext cx="11247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Microsoft YaHei"/>
              </a:rPr>
              <a:t>test_phishing_orchestration.py(精简)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828800"/>
            <a:ext cx="11292840" cy="42062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920240"/>
            <a:ext cx="11018520" cy="4023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>
                <a:solidFill>
                  <a:srgbClr val="E5E7EB"/>
                </a:solidFill>
                <a:latin typeface="Menlo"/>
              </a:rPr>
              <a:t>async def test_phishing_e2e(registry, mock_sources):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E5E7EB"/>
                </a:solidFill>
                <a:latin typeface="Menlo"/>
              </a:rPr>
              <a:t>    alert = {'recipient': 'alice@corp', 'url': 'http://evil.tld'}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E5E7EB"/>
                </a:solidFill>
                <a:latin typeface="Menlo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E5E7EB"/>
                </a:solidFill>
                <a:latin typeface="Menlo"/>
              </a:rPr>
              <a:t>    user   = await registry.resolve(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E5E7EB"/>
                </a:solidFill>
                <a:latin typeface="Menlo"/>
              </a:rPr>
              <a:t>        'investigate.entity.user.profile'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E5E7EB"/>
                </a:solidFill>
                <a:latin typeface="Menlo"/>
              </a:rPr>
              <a:t>    ).run({'principal': alert['recipient']})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E5E7EB"/>
                </a:solidFill>
                <a:latin typeface="Menlo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E5E7EB"/>
                </a:solidFill>
                <a:latin typeface="Menlo"/>
              </a:rPr>
              <a:t>    email  = await registry.resolve(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E5E7EB"/>
                </a:solidFill>
                <a:latin typeface="Menlo"/>
              </a:rPr>
              <a:t>        'investigate.activity.email'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E5E7EB"/>
                </a:solidFill>
                <a:latin typeface="Menlo"/>
              </a:rPr>
              <a:t>    ).run({'alert_id': 'A-001'})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E5E7EB"/>
                </a:solidFill>
                <a:latin typeface="Menlo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E5E7EB"/>
                </a:solidFill>
                <a:latin typeface="Menlo"/>
              </a:rPr>
              <a:t>    rep    = await registry.resolve(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E5E7EB"/>
                </a:solidFill>
                <a:latin typeface="Menlo"/>
              </a:rPr>
              <a:t>        'investigate.intel.domain_url.reputation'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E5E7EB"/>
                </a:solidFill>
                <a:latin typeface="Menlo"/>
              </a:rPr>
              <a:t>    ).run({'url': alert['url']})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E5E7EB"/>
                </a:solidFill>
                <a:latin typeface="Menlo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E5E7EB"/>
                </a:solidFill>
                <a:latin typeface="Menlo"/>
              </a:rPr>
              <a:t>    verdict = await registry.resolve(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E5E7EB"/>
                </a:solidFill>
                <a:latin typeface="Menlo"/>
              </a:rPr>
              <a:t>        'investigate.verdict.tp_fp'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E5E7EB"/>
                </a:solidFill>
                <a:latin typeface="Menlo"/>
              </a:rPr>
              <a:t>    ).run({'evidence_set': [user, email, rep]})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E5E7EB"/>
                </a:solidFill>
                <a:latin typeface="Menlo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E5E7EB"/>
                </a:solidFill>
                <a:latin typeface="Menlo"/>
              </a:rPr>
              <a:t>    assert verdict.payload.verdict == 'TP'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E5E7EB"/>
                </a:solidFill>
                <a:latin typeface="Menlo"/>
              </a:rPr>
              <a:t>    iocs    = await registry.resolve('investigate.verdict.ioc').run(...)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E5E7EB"/>
                </a:solidFill>
                <a:latin typeface="Menlo"/>
              </a:rPr>
              <a:t>    plan    = await registry.resolve('investigate.verdict.response').run(...)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E5E7EB"/>
                </a:solidFill>
                <a:latin typeface="Menlo"/>
              </a:rPr>
              <a:t>    assert len(iocs.payload.indicators) &gt;= 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126480"/>
            <a:ext cx="11292840" cy="41148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126480"/>
            <a:ext cx="112928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重点:每一步都是 await cap.run(payload) 的统一调用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</a:rPr>
              <a:t>Secmind · Atomic Investigation 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73152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D1D5DB"/>
                </a:solidFill>
                <a:latin typeface="Microsoft YaHei"/>
              </a:rPr>
              <a:t>2026-05-24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2940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4B5563"/>
                </a:solidFill>
                <a:latin typeface="Microsoft YaHei"/>
              </a:rPr>
              <a:t>secmind-investigator · P0 Technical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629400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4B5563"/>
                </a:solidFill>
                <a:latin typeface="Microsoft YaHei"/>
              </a:rPr>
              <a:t>19 /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Microsoft YaHei"/>
              </a:rPr>
              <a:t>P0 任务总览(43 个 Task)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234440"/>
            <a:ext cx="822960" cy="54864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325880"/>
            <a:ext cx="11247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Microsoft YaHei"/>
              </a:rPr>
              <a:t>Foundation → Adapter → Capability → 验收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1828800"/>
          <a:ext cx="112928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097280"/>
                <a:gridCol w="7452360"/>
              </a:tblGrid>
              <a:tr h="470262"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阶段</a:t>
                      </a:r>
                    </a:p>
                  </a:txBody>
                  <a:tcPr marL="73152" marR="73152" marT="36576" marB="36576">
                    <a:solidFill>
                      <a:srgbClr val="1F2A44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Task 数</a:t>
                      </a:r>
                    </a:p>
                  </a:txBody>
                  <a:tcPr marL="73152" marR="73152" marT="36576" marB="36576">
                    <a:solidFill>
                      <a:srgbClr val="1F2A44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内容要点</a:t>
                      </a:r>
                    </a:p>
                  </a:txBody>
                  <a:tcPr marL="73152" marR="73152" marT="36576" marB="36576">
                    <a:solidFill>
                      <a:srgbClr val="1F2A44"/>
                    </a:solidFill>
                  </a:tcPr>
                </a:tc>
              </a:tr>
              <a:tr h="470262"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Foundation 基础底座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Schema · ABC · Errors · Registry · Observability · Skeleton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DataSource Adapter</a:t>
                      </a:r>
                    </a:p>
                  </a:txBody>
                  <a:tcPr marL="73152" marR="73152" marT="36576" marB="36576">
                    <a:solidFill>
                      <a:srgbClr val="F3F4F6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9</a:t>
                      </a:r>
                    </a:p>
                  </a:txBody>
                  <a:tcPr marL="73152" marR="73152" marT="36576" marB="36576">
                    <a:solidFill>
                      <a:srgbClr val="F3F4F6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9 类 P0 数据源 + Mock 实现 + Healthcheck</a:t>
                      </a:r>
                    </a:p>
                  </a:txBody>
                  <a:tcPr marL="73152" marR="73152" marT="36576" marB="36576">
                    <a:solidFill>
                      <a:srgbClr val="F3F4F6"/>
                    </a:solidFill>
                  </a:tcPr>
                </a:tc>
              </a:tr>
              <a:tr h="470262"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Capability 能力实现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25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25 个原子能力,逐个 PR,带单测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Integration 集成测试</a:t>
                      </a:r>
                    </a:p>
                  </a:txBody>
                  <a:tcPr marL="73152" marR="73152" marT="36576" marB="36576">
                    <a:solidFill>
                      <a:srgbClr val="F3F4F6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L="73152" marR="73152" marT="36576" marB="36576">
                    <a:solidFill>
                      <a:srgbClr val="F3F4F6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钓鱼场景 E2E + 编排示例</a:t>
                      </a:r>
                    </a:p>
                  </a:txBody>
                  <a:tcPr marL="73152" marR="73152" marT="36576" marB="36576">
                    <a:solidFill>
                      <a:srgbClr val="F3F4F6"/>
                    </a:solidFill>
                  </a:tcPr>
                </a:tc>
              </a:tr>
              <a:tr h="470262"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Docs 文档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README · 能力索引 · 使用 Cookbook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70268"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验收门禁</a:t>
                      </a:r>
                    </a:p>
                  </a:txBody>
                  <a:tcPr marL="73152" marR="73152" marT="36576" marB="36576">
                    <a:solidFill>
                      <a:srgbClr val="F3F4F6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L="73152" marR="73152" marT="36576" marB="36576">
                    <a:solidFill>
                      <a:srgbClr val="F3F4F6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lint + typecheck + coverage ≥ 85% + registry ≥ 25</a:t>
                      </a:r>
                    </a:p>
                  </a:txBody>
                  <a:tcPr marL="73152" marR="73152" marT="36576" marB="36576"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457200" y="5349240"/>
            <a:ext cx="11292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2A44"/>
                </a:solidFill>
                <a:latin typeface="Microsoft YaHei"/>
              </a:rPr>
              <a:t>当前进度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5715000"/>
            <a:ext cx="11292840" cy="320040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5715000"/>
            <a:ext cx="787872" cy="3200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5715000"/>
            <a:ext cx="112928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1F2A44"/>
                </a:solidFill>
                <a:latin typeface="Microsoft YaHei"/>
              </a:rPr>
              <a:t>3 / 43 完成(Schema + EvidenceRef + PIIMarker 已提交)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6172200"/>
            <a:ext cx="11292840" cy="3657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172200"/>
            <a:ext cx="11292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门禁命令:make lint &amp;&amp; make test &amp;&amp; --cov-fail-under=85 &amp;&amp; registry ≥ 25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</a:rPr>
              <a:t>Secmind · Atomic Investigation 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73152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D1D5DB"/>
                </a:solidFill>
                <a:latin typeface="Microsoft YaHei"/>
              </a:rPr>
              <a:t>2026-05-24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2940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4B5563"/>
                </a:solidFill>
                <a:latin typeface="Microsoft YaHei"/>
              </a:rPr>
              <a:t>secmind-investigator · P0 Technical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629400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4B5563"/>
                </a:solidFill>
                <a:latin typeface="Microsoft YaHei"/>
              </a:rPr>
              <a:t>20 /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Microsoft YaHei"/>
              </a:rPr>
              <a:t>P1 路线图(Milestone-level)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234440"/>
            <a:ext cx="822960" cy="54864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325880"/>
            <a:ext cx="11247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Microsoft YaHei"/>
              </a:rPr>
              <a:t>覆盖云 / 横移 / 外泄 / 特权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288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3B82F6"/>
                </a:solidFill>
                <a:latin typeface="Microsoft YaHei"/>
              </a:rPr>
              <a:t>6 个新数据源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2240280"/>
          <a:ext cx="54864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1463040"/>
              </a:tblGrid>
              <a:tr h="457200"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新增数据源</a:t>
                      </a:r>
                    </a:p>
                  </a:txBody>
                  <a:tcPr marL="73152" marR="73152" marT="36576" marB="36576">
                    <a:solidFill>
                      <a:srgbClr val="1F2A44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</a:rPr>
                        <a:t>估时</a:t>
                      </a:r>
                    </a:p>
                  </a:txBody>
                  <a:tcPr marL="73152" marR="73152" marT="36576" marB="36576">
                    <a:solidFill>
                      <a:srgbClr val="1F2A44"/>
                    </a:solidFill>
                  </a:tcPr>
                </a:tc>
              </a:tr>
              <a:tr h="457200"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</a:rPr>
                        <a:t>DS-NDR(网络检测响应)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</a:rPr>
                        <a:t>1-2 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</a:rPr>
                        <a:t>DS-CLOUD(云审计:AWS / Azure / GCP)</a:t>
                      </a:r>
                    </a:p>
                  </a:txBody>
                  <a:tcPr marL="73152" marR="73152" marT="36576" marB="36576">
                    <a:solidFill>
                      <a:srgbClr val="F3F4F6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</a:rPr>
                        <a:t>2 d</a:t>
                      </a:r>
                    </a:p>
                  </a:txBody>
                  <a:tcPr marL="73152" marR="73152" marT="36576" marB="36576"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</a:rPr>
                        <a:t>DS-DLP(数据防泄漏)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</a:rPr>
                        <a:t>1-2 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</a:rPr>
                        <a:t>DS-CASB(SaaS 治理)</a:t>
                      </a:r>
                    </a:p>
                  </a:txBody>
                  <a:tcPr marL="73152" marR="73152" marT="36576" marB="36576">
                    <a:solidFill>
                      <a:srgbClr val="F3F4F6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</a:rPr>
                        <a:t>1-2 d</a:t>
                      </a:r>
                    </a:p>
                  </a:txBody>
                  <a:tcPr marL="73152" marR="73152" marT="36576" marB="36576"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</a:rPr>
                        <a:t>DS-DAM(数据库访问监控)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</a:rPr>
                        <a:t>1-2 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</a:rPr>
                        <a:t>DS-PAM(特权访问管理)</a:t>
                      </a:r>
                    </a:p>
                  </a:txBody>
                  <a:tcPr marL="73152" marR="73152" marT="36576" marB="36576">
                    <a:solidFill>
                      <a:srgbClr val="F3F4F6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100" b="0">
                          <a:solidFill>
                            <a:srgbClr val="111827"/>
                          </a:solidFill>
                          <a:latin typeface="Microsoft YaHei"/>
                        </a:rPr>
                        <a:t>1-2 d</a:t>
                      </a:r>
                    </a:p>
                  </a:txBody>
                  <a:tcPr marL="73152" marR="73152" marT="36576" marB="36576"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Microsoft YaHei"/>
              </a:rPr>
              <a:t>4 个能力主题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309360" y="2240280"/>
          <a:ext cx="54864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</a:tblGrid>
              <a:tr h="475488"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Microsoft YaHei"/>
                        </a:rPr>
                        <a:t>新增能力主题</a:t>
                      </a:r>
                    </a:p>
                  </a:txBody>
                  <a:tcPr marL="73152" marR="73152" marT="36576" marB="36576">
                    <a:solidFill>
                      <a:srgbClr val="1F2A44"/>
                    </a:solidFill>
                  </a:tcPr>
                </a:tc>
              </a:tr>
              <a:tr h="475488"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云审计调查(CloudTrail / Activity Log)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横向移动检测(Lateral Movement)</a:t>
                      </a:r>
                    </a:p>
                  </a:txBody>
                  <a:tcPr marL="73152" marR="73152" marT="36576" marB="36576">
                    <a:solidFill>
                      <a:srgbClr val="F3F4F6"/>
                    </a:solidFill>
                  </a:tcPr>
                </a:tc>
              </a:tr>
              <a:tr h="475488"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数据外泄关联(DLP + CASB + EDR)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 lIns="0" rIns="0"/>
                    <a:lstStyle/>
                    <a:p>
                      <a:pPr algn="l"/>
                      <a:r>
                        <a:rPr sz="1200" b="0">
                          <a:solidFill>
                            <a:srgbClr val="111827"/>
                          </a:solidFill>
                          <a:latin typeface="Microsoft YaHei"/>
                        </a:rPr>
                        <a:t>特权滥用分析(PAM + IDP 高权操作)</a:t>
                      </a:r>
                    </a:p>
                  </a:txBody>
                  <a:tcPr marL="73152" marR="73152" marT="36576" marB="36576"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6309360" y="4754880"/>
            <a:ext cx="5486400" cy="6858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4754880"/>
            <a:ext cx="54864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验收:覆盖 4 类新场景的集成测试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</a:rPr>
              <a:t>Secmind · Atomic Investigation 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73152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D1D5DB"/>
                </a:solidFill>
                <a:latin typeface="Microsoft YaHei"/>
              </a:rPr>
              <a:t>2026-05-24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2940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4B5563"/>
                </a:solidFill>
                <a:latin typeface="Microsoft YaHei"/>
              </a:rPr>
              <a:t>secmind-investigator · P0 Technical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629400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4B5563"/>
                </a:solidFill>
                <a:latin typeface="Microsoft YaHei"/>
              </a:rPr>
              <a:t>21 /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Microsoft YaHei"/>
              </a:rPr>
              <a:t>P2 路线图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234440"/>
            <a:ext cx="822960" cy="54864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325880"/>
            <a:ext cx="11247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Microsoft YaHei"/>
              </a:rPr>
              <a:t>沙箱回放 · 漏洞利用链 · 域名注册全景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828800"/>
            <a:ext cx="11292840" cy="128016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828800"/>
            <a:ext cx="164592" cy="128016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96596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3B82F6"/>
                </a:solidFill>
                <a:latin typeface="Microsoft YaHei"/>
              </a:rPr>
              <a:t>DS-SANDBOX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46888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Microsoft YaHei"/>
              </a:rPr>
              <a:t>沙箱动态分析 · 文件 / URL 引爆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74320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B5563"/>
                </a:solidFill>
                <a:latin typeface="Microsoft YaHei"/>
              </a:rPr>
              <a:t>回放可疑样本行为 · 提取动态 IOC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291840"/>
            <a:ext cx="11292840" cy="128016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291840"/>
            <a:ext cx="164592" cy="12801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42900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0B981"/>
                </a:solidFill>
                <a:latin typeface="Microsoft YaHei"/>
              </a:rPr>
              <a:t>DS-VULN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9319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Microsoft YaHei"/>
              </a:rPr>
              <a:t>漏洞扫描 · CVE / 资产暴露面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20624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B5563"/>
                </a:solidFill>
                <a:latin typeface="Microsoft YaHei"/>
              </a:rPr>
              <a:t>把告警资产与 CVE 关联 · 推断利用链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754880"/>
            <a:ext cx="11292840" cy="128016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4754880"/>
            <a:ext cx="164592" cy="12801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89204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F2A44"/>
                </a:solidFill>
                <a:latin typeface="Microsoft YaHei"/>
              </a:rPr>
              <a:t>DS-WHOIS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39496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Microsoft YaHei"/>
              </a:rPr>
              <a:t>域名注册 · 历史解析 · 相关域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66928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B5563"/>
                </a:solidFill>
                <a:latin typeface="Microsoft YaHei"/>
              </a:rPr>
              <a:t>钓鱼 / 仿冒域全景画像 · 注册人聚类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6126480"/>
            <a:ext cx="11292840" cy="41148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6126480"/>
            <a:ext cx="112928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P2 聚焦深度专题,而非铺面积;每个专题独立验收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icrosoft YaHei"/>
              </a:rPr>
              <a:t>Secmind · Atomic Investigation 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73152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D1D5DB"/>
                </a:solidFill>
                <a:latin typeface="Microsoft YaHei"/>
              </a:rPr>
              <a:t>2026-05-24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62940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4B5563"/>
                </a:solidFill>
                <a:latin typeface="Microsoft YaHei"/>
              </a:rPr>
              <a:t>secmind-investigator · P0 Technical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629400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4B5563"/>
                </a:solidFill>
                <a:latin typeface="Microsoft YaHei"/>
              </a:rPr>
              <a:t>22 /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9436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  <a:latin typeface="Microsoft YaHei"/>
              </a:rPr>
              <a:t>Q&amp;A · 下一步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234440"/>
            <a:ext cx="822960" cy="54864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325880"/>
            <a:ext cx="11247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4B5563"/>
                </a:solidFill>
                <a:latin typeface="Microsoft YaHei"/>
              </a:rPr>
              <a:t>当前进展与即将启动的工作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828800"/>
            <a:ext cx="5486400" cy="347472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828800"/>
            <a:ext cx="91440" cy="34747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92024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0B981"/>
                </a:solidFill>
                <a:latin typeface="Microsoft YaHei"/>
              </a:rPr>
              <a:t>已完成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377440"/>
            <a:ext cx="512064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1">
                <a:solidFill>
                  <a:srgbClr val="3B82F6"/>
                </a:solidFill>
                <a:latin typeface="Microsoft YaHei"/>
              </a:rPr>
              <a:t>■ </a:t>
            </a:r>
            <a:r>
              <a:rPr sz="1300">
                <a:solidFill>
                  <a:srgbClr val="111827"/>
                </a:solidFill>
                <a:latin typeface="Microsoft YaHei"/>
              </a:rPr>
              <a:t>Task 1:项目骨架(pyproject / Makefile / conftest)</a:t>
            </a:r>
          </a:p>
          <a:p>
            <a:pPr algn="l">
              <a:lnSpc>
                <a:spcPct val="140000"/>
              </a:lnSpc>
            </a:pPr>
            <a:r>
              <a:rPr sz="1300" b="1">
                <a:solidFill>
                  <a:srgbClr val="3B82F6"/>
                </a:solidFill>
                <a:latin typeface="Microsoft YaHei"/>
              </a:rPr>
              <a:t>■ </a:t>
            </a:r>
            <a:r>
              <a:rPr sz="1300">
                <a:solidFill>
                  <a:srgbClr val="111827"/>
                </a:solidFill>
                <a:latin typeface="Microsoft YaHei"/>
              </a:rPr>
              <a:t>Task 2:make install / test / lint 全通</a:t>
            </a:r>
          </a:p>
          <a:p>
            <a:pPr algn="l">
              <a:lnSpc>
                <a:spcPct val="140000"/>
              </a:lnSpc>
            </a:pPr>
            <a:r>
              <a:rPr sz="1300" b="1">
                <a:solidFill>
                  <a:srgbClr val="3B82F6"/>
                </a:solidFill>
                <a:latin typeface="Microsoft YaHei"/>
              </a:rPr>
              <a:t>■ </a:t>
            </a:r>
            <a:r>
              <a:rPr sz="1300">
                <a:solidFill>
                  <a:srgbClr val="111827"/>
                </a:solidFill>
                <a:latin typeface="Microsoft YaHei"/>
              </a:rPr>
              <a:t>Task 3:CapabilityResult / EvidenceRef / PIIMarker Schema</a:t>
            </a:r>
          </a:p>
          <a:p>
            <a:pPr algn="l">
              <a:lnSpc>
                <a:spcPct val="140000"/>
              </a:lnSpc>
            </a:pPr>
            <a:r>
              <a:rPr sz="1300" b="1">
                <a:solidFill>
                  <a:srgbClr val="3B82F6"/>
                </a:solidFill>
                <a:latin typeface="Microsoft YaHei"/>
              </a:rPr>
              <a:t>■ </a:t>
            </a:r>
            <a:r>
              <a:rPr sz="1300">
                <a:solidFill>
                  <a:srgbClr val="111827"/>
                </a:solidFill>
                <a:latin typeface="Microsoft YaHei"/>
              </a:rPr>
              <a:t>覆盖率 ≥ 85%,ruff + mypy strict 通过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1828800"/>
            <a:ext cx="5486400" cy="347472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1828800"/>
            <a:ext cx="91440" cy="34747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192024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3B82F6"/>
                </a:solidFill>
                <a:latin typeface="Microsoft YaHei"/>
              </a:rPr>
              <a:t>下一步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2377440"/>
            <a:ext cx="512064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1">
                <a:solidFill>
                  <a:srgbClr val="3B82F6"/>
                </a:solidFill>
                <a:latin typeface="Microsoft YaHei"/>
              </a:rPr>
              <a:t>■ </a:t>
            </a:r>
            <a:r>
              <a:rPr sz="1300">
                <a:solidFill>
                  <a:srgbClr val="111827"/>
                </a:solidFill>
                <a:latin typeface="Microsoft YaHei"/>
              </a:rPr>
              <a:t>Task 4:Errors —— 三种异常 + run() 降级映射</a:t>
            </a:r>
          </a:p>
          <a:p>
            <a:pPr algn="l">
              <a:lnSpc>
                <a:spcPct val="140000"/>
              </a:lnSpc>
            </a:pPr>
            <a:r>
              <a:rPr sz="1300" b="1">
                <a:solidFill>
                  <a:srgbClr val="3B82F6"/>
                </a:solidFill>
                <a:latin typeface="Microsoft YaHei"/>
              </a:rPr>
              <a:t>■ </a:t>
            </a:r>
            <a:r>
              <a:rPr sz="1300">
                <a:solidFill>
                  <a:srgbClr val="111827"/>
                </a:solidFill>
                <a:latin typeface="Microsoft YaHei"/>
              </a:rPr>
              <a:t>Task 5:CapabilityRegistry + 装饰器注册</a:t>
            </a:r>
          </a:p>
          <a:p>
            <a:pPr algn="l">
              <a:lnSpc>
                <a:spcPct val="140000"/>
              </a:lnSpc>
            </a:pPr>
            <a:r>
              <a:rPr sz="1300" b="1">
                <a:solidFill>
                  <a:srgbClr val="3B82F6"/>
                </a:solidFill>
                <a:latin typeface="Microsoft YaHei"/>
              </a:rPr>
              <a:t>■ </a:t>
            </a:r>
            <a:r>
              <a:rPr sz="1300">
                <a:solidFill>
                  <a:srgbClr val="111827"/>
                </a:solidFill>
                <a:latin typeface="Microsoft YaHei"/>
              </a:rPr>
              <a:t>Task 6:Observability —— structlog + OTel</a:t>
            </a:r>
          </a:p>
          <a:p>
            <a:pPr algn="l">
              <a:lnSpc>
                <a:spcPct val="140000"/>
              </a:lnSpc>
            </a:pPr>
            <a:r>
              <a:rPr sz="1300" b="1">
                <a:solidFill>
                  <a:srgbClr val="3B82F6"/>
                </a:solidFill>
                <a:latin typeface="Microsoft YaHei"/>
              </a:rPr>
              <a:t>■ </a:t>
            </a:r>
            <a:r>
              <a:rPr sz="1300">
                <a:solidFill>
                  <a:srgbClr val="111827"/>
                </a:solidFill>
                <a:latin typeface="Microsoft YaHei"/>
              </a:rPr>
              <a:t>之后并行推 9 个 DS Adapter + 25 个能力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577840"/>
            <a:ext cx="11292840" cy="7315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5577840"/>
            <a:ext cx="112928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讨论入口:tech@ouraca.ai · Secmind / secmind-investigator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