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164592" cy="33832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安全告警调查 · 原子能力设计 (v1.0)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1D5DB"/>
                </a:solidFill>
                <a:latin typeface="Microsoft YaHei"/>
              </a:rPr>
              <a:t>Atomic Investigation Capabilities — Spec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Microsoft YaHei"/>
              </a:rPr>
              <a:t>通用企业 SOC 调查动作的最小积木集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日期 · 2026-05-24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Microsoft YaHei"/>
              </a:rPr>
              <a:t>Secmind / secmind-investigator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Microsoft YaHe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2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议程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围绕设计哲学 · 能力分类 · 编排场景三大主线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设计哲学 / 命名空间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10312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210312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331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0175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抽象数据源清单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10312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10312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175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能力总览 7 大类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10312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210312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331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175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A-G 类原子能力精读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5262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数据源 × 能力依赖矩阵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29768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429768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45262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6 个典型告警编排场景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29768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429768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5262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落地路线图 P0 / P1 / P2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429768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61120" y="429768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45262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总结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设计哲学:七条铁律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Atomic / Composable / Decoupled / Observable / Structured / Privacy-explicit / Baseline-first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532120" cy="594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02920" cy="5943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502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0195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</a:rPr>
              <a:t>原子化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90195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单一职责,一个能力 = 一个调查动作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532120" cy="594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502920" cy="5943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502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90195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</a:rPr>
              <a:t>可组合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0195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任意串行 / 并行 / 嵌套,依赖显式声明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14600"/>
            <a:ext cx="5532120" cy="594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514600"/>
            <a:ext cx="50292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514600"/>
            <a:ext cx="502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58775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数据源解耦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58775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按语义命名,绑定抽象 DS-XXX 而非具体厂商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514600"/>
            <a:ext cx="5532120" cy="594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514600"/>
            <a:ext cx="50292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514600"/>
            <a:ext cx="502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58775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YaHei"/>
              </a:rPr>
              <a:t>降级可观测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58775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数据源不可达必须 partial=true + 显式缺口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200400"/>
            <a:ext cx="5532120" cy="594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502920" cy="5943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00400"/>
            <a:ext cx="502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27355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Microsoft YaHei"/>
              </a:rPr>
              <a:t>输出结构化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27355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JSON-shaped,可被另一个能力直接消费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200400"/>
            <a:ext cx="5532120" cy="594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200400"/>
            <a:ext cx="502920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200400"/>
            <a:ext cx="502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27355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Microsoft YaHei"/>
              </a:rPr>
              <a:t>隐私显式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27355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声明 PII 字段,上层按权限裁剪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886200"/>
            <a:ext cx="5532120" cy="594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886200"/>
            <a:ext cx="502920" cy="5943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886200"/>
            <a:ext cx="502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395935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基线优先于规则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395935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判断'异常'优先于'匹配 IOC'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989320"/>
            <a:ext cx="1129284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989320"/>
            <a:ext cx="11292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原子化是地基,LLM Agent 是大脑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4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命名空间体系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investigate.&lt;category&gt;.&lt;entity|activity&gt;.&lt;action&gt;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1292840" cy="5943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nlo"/>
              </a:rPr>
              <a:t>investigate.&lt;category&gt;.&lt;entity|activity&gt;.&lt;action&gt;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2606040"/>
          <a:ext cx="112928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2194560"/>
                <a:gridCol w="6537960"/>
              </a:tblGrid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缩写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Category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示例 namespace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entity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实体画像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investigate.entity.user.profile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activity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行为活动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investigate.activity.login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relation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关联推理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investigate.relation.lateral_movement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context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上下文与基线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investigate.context.baseline.self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intel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外部情报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investigate.intel.ip.reputation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verdict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判定与产出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investigate.verdict.tp_fp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meta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元能力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investigate.meta.next_step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5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能力卡统一模板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每张能力卡 = 一份契约,可被 LLM 直接读懂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303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ID(A1 / B3 ...)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名称 / 命名空间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目的(一句话,LLM 友好)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输入字段表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去哪里查 → 查什么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输出 JSON 字段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典型编排触发场景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依赖能力 / 失败降级 / 备注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806440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53212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id: A1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name: 用户/账户画像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namespace: investigate.entity.user.profile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purpose: 给定一个 principal,产出该用户的多源画像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inputs: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principal: str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time_window: TimeWindow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sources: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- DS-HR    : department / leaver_in_30d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- DS-IDP   : status / mfa / privileged_groups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- DS-CMDB  : devices / saas_apps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outputs: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identity / auth / privilege / assets / email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risk_tags / prior_alerts_30d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on_partial: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partial=true · partial_reasons=['DS-HR unavailable']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pii: [identity.email, hr.manager]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29284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263640"/>
            <a:ext cx="11292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结构统一 → LLM 一次学习,所有 83 个能力即插即用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6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抽象数据源清单 · P0 核心 9 个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按语义命名,落地时各企业做一次 DS-X → 厂商接口的映射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112928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5349240"/>
                <a:gridCol w="2286000"/>
              </a:tblGrid>
              <a:tr h="420624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抽象 DS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典型实际系统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保留期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</a:tr>
              <a:tr h="420624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DS-IDP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身份与认证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Entra ID / Okta / 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90-365 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DS-HR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人事系统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Workday / SAP / 飞书人事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permanent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DS-CMDB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资产配置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ServiceNow / Lansweeper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permanent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DS-EDR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终端检测响应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CrowdStrike / SentinelOne / 360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30-180 d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DS-SIEM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日志聚合与告警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Splunk / Sentinel / Chronicle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90-365 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DS-EMAIL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邮件安全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M365 / Proofpoint / 网易企业邮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90-365 d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DS-FW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网络防火墙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Palo Alto / Fortinet / 华为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30-180 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DS-TI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威胁情报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VirusTotal / OTX / 商业 TI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API only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DS-KB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知识库 / Runbook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Confluence / Notion / 内部 Wiki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permanent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172200"/>
            <a:ext cx="112928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17220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落地时各企业做一次 DS-X → 厂商接口的映射,能力代码完全不动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7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抽象数据源清单 · P1 + P2 扩展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P1 应对云/横移/外泄,P2 覆盖归因/合规/供应链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P1 · 场景扩展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194560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P1 (9 类)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DS-NDR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网络检测响应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DS-CLOUD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云审计日志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DS-DLP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数据防泄漏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DS-CASB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SaaS 治理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DS-PAM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特权访问管理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DS-DAM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数据库访问监控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DS-SANDBOX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沙箱动态分析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DS-VULN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漏洞扫描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DS-WHOIS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域名注册信息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Microsoft YaHei"/>
              </a:rPr>
              <a:t>P2 · 深度专题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09360" y="219456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P2 (10 类)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DS-CODE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代码仓库与构建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DS-MOBILE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移动设备管理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DS-DNS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递归 DNS 与 pDNS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DS-FILE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文件存储审计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DS-WAF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应用层防护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DS-VPN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远程接入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DS-PROXY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上网代理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DS-TICKET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工单变更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DS-AV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防病毒事件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DS-IPAM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IP 资产管理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能力总览 · 7 大类 · 83 个原子能力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类目化设计,LLM 按需挑选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1473882" cy="3200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76456"/>
            <a:ext cx="1473882" cy="2635623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22176"/>
            <a:ext cx="14738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147388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Microsoft YaHei"/>
              </a:rPr>
              <a:t>A · 实体画像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8242" y="2011680"/>
            <a:ext cx="1473882" cy="3200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68242" y="2011680"/>
            <a:ext cx="1473882" cy="3200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68242" y="2057400"/>
            <a:ext cx="14738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8242" y="5303520"/>
            <a:ext cx="147388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Microsoft YaHei"/>
              </a:rPr>
              <a:t>B · 行为活动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79284" y="2011680"/>
            <a:ext cx="1473882" cy="3200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79284" y="3329491"/>
            <a:ext cx="1473882" cy="18825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9284" y="3375211"/>
            <a:ext cx="14738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9284" y="5303520"/>
            <a:ext cx="147388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Microsoft YaHei"/>
              </a:rPr>
              <a:t>C · 关联推理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90326" y="2011680"/>
            <a:ext cx="1473882" cy="3200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90326" y="3141232"/>
            <a:ext cx="1473882" cy="207084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0326" y="3186952"/>
            <a:ext cx="14738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0326" y="5303520"/>
            <a:ext cx="147388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Microsoft YaHei"/>
              </a:rPr>
              <a:t>D · 上下文与基线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1368" y="2011680"/>
            <a:ext cx="1473882" cy="3200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01368" y="2952974"/>
            <a:ext cx="1473882" cy="225910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1368" y="2998694"/>
            <a:ext cx="14738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1368" y="5303520"/>
            <a:ext cx="147388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Microsoft YaHei"/>
              </a:rPr>
              <a:t>E · 外部情报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12410" y="2011680"/>
            <a:ext cx="1473882" cy="3200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12410" y="3141232"/>
            <a:ext cx="1473882" cy="207084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2410" y="3186952"/>
            <a:ext cx="14738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2410" y="5303520"/>
            <a:ext cx="147388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Microsoft YaHei"/>
              </a:rPr>
              <a:t>F · 判定与产出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23452" y="2011680"/>
            <a:ext cx="1473882" cy="3200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3452" y="3706009"/>
            <a:ext cx="1473882" cy="150607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3452" y="3751729"/>
            <a:ext cx="14738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23452" y="5303520"/>
            <a:ext cx="147388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Microsoft YaHei"/>
              </a:rPr>
              <a:t>G · 元能力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35040"/>
            <a:ext cx="1129284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035040"/>
            <a:ext cx="11292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总计 83 个原子能力 · 覆盖从'拿数'到'判定'到'下一步'的完整调查链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9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A 类 · 实体画像 · A1 精读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investigate.entity.user.profile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11292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12680"/>
              </a:tblGrid>
              <a:tr h="438912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项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值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</a:tr>
              <a:tr h="438912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principal: str  ·  time_window: TimeWindow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数据源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DS-HR● DS-IDP● DS-CMDB○ DS-PAM○ DS-EMAIL○ DS-KB○ 观察名单○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输出字段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identity / auth / privilege / assets / email / risk_tags / prior_alerts_30d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失败降级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HR 不可达 → partial=true · partial_reasons=['DS-HR unavailable']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16052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典型 risk_tags 示例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1417320" cy="4114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leaver_30d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4248" y="4572000"/>
            <a:ext cx="1298448" cy="4114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4248" y="4572000"/>
            <a:ext cx="129844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watchlist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2424" y="4572000"/>
            <a:ext cx="1892808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2424" y="4572000"/>
            <a:ext cx="18928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dormant_active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4572000"/>
            <a:ext cx="1536192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4572000"/>
            <a:ext cx="15361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priv_no_mfa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4572000"/>
            <a:ext cx="1417320" cy="4114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5720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contractor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67928" y="4572000"/>
            <a:ext cx="585216" cy="4114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7928" y="4572000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vip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62872" y="4572000"/>
            <a:ext cx="2724912" cy="41148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4572000"/>
            <a:ext cx="27249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recent_password_reset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11292840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49240"/>
            <a:ext cx="11292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备注:HR 数据 T+1 滞后 · 邮箱转发规则是 BEC 持久化经典点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LLM 直接据此判断:是否高敏感用户 / 是否启用 MFA / 是否离职态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A 类 · 其他 13 个实体能力一览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实体是调查的锚点,所有 B/C 能力都围绕实体展开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548640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7451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主机 / 终端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87451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874519"/>
            <a:ext cx="548640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87451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187451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服务器 / 资产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7451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74519"/>
            <a:ext cx="548640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87451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87451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IP 地址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87451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874519"/>
            <a:ext cx="548640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187451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87451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域名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88035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880359"/>
            <a:ext cx="548640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88035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288035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URL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288035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2880359"/>
            <a:ext cx="548640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88035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288035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文件 / Hash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88035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2880359"/>
            <a:ext cx="548640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88035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88035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进程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288035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61120" y="2880359"/>
            <a:ext cx="548640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288035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288035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邮件地址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8619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3886199"/>
            <a:ext cx="548640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88619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388619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证书 / 公钥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388619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91840" y="3886199"/>
            <a:ext cx="548640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388619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7640" y="388619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云资源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88619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26480" y="3886199"/>
            <a:ext cx="548640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388619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388619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服务账户 / API Key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61120" y="388619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61120" y="3886199"/>
            <a:ext cx="548640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20" y="388619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388619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移动设备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892039"/>
            <a:ext cx="2697480" cy="868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4892039"/>
            <a:ext cx="548640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892039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4892039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DB 账户 / 对象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126480"/>
            <a:ext cx="11292840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126480"/>
            <a:ext cx="11292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命名一致性:所有 A 类输出 entity_id / entity_type / risk_tags / prior_alerts_30d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B 类 · 行为活动 · 17 个能力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按数据源/语义分四组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129284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64592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Microsoft YaHei"/>
              </a:rPr>
              <a:t>终端类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B3 进程执行 · B6 文件操作 · B7 配置变更 · B15 持久化 · B16 凭据访问 · B17 防御规避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98648"/>
            <a:ext cx="1129284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98648"/>
            <a:ext cx="164592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900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</a:rPr>
              <a:t>网络类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5584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B4 网络连接 · B5 DNS · B11 USB 接入 · B12 浏览器活动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68496"/>
            <a:ext cx="1129284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164592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993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Microsoft YaHei"/>
              </a:rPr>
              <a:t>身份 / 通信类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25696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B1 登录 · B2 权限变更 · B8 邮件收发 · B13 SaaS OAuth 授权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38344"/>
            <a:ext cx="1129284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038344"/>
            <a:ext cx="164592" cy="960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2978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Microsoft YaHei"/>
              </a:rPr>
              <a:t>数据 / 云 / 容器类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9554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B9 云控制面 · B10 数据访问 · B14 容器 / K8s 事件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126480"/>
            <a:ext cx="11292840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11292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B 类回答:这个实体在窗口期内做了什么 / 被做了什么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12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C 类 · 关联推理 · 10 个能力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把孤立证据拼成攻击叙事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112928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7635240"/>
              </a:tblGrid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ID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能力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一句话作用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时间窗共现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同一实体在 ±Δt 内的多源事件聚合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C2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实体关系图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user / host / ip / domain 之间的边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父子进程链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完整 process lineage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C4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ATT&amp;CK 阶段定位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事件 → tactic / technique 映射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横向移动追踪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登录链 + 远控工具调用链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C6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扇出 / 扇入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1→N / N→1 的爆破 / 内传模式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同源事件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相同 IOC / 同一 campaign 的事件聚类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C8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跨源拼接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EDR + 邮件 + 防火墙的同一事件还原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受害者扩展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同邮件模板 / 同样本 / 同 C2 的更多受害者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C10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异常路径检测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认证 / 进程 / 网络的稀有路径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172200"/>
            <a:ext cx="112928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17220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关联类把孤立证据拼成攻击叙事 —— Verdict 的真正前提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D 类 · 上下文与基线 · 11 个能力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基线优先于规则 —— 异常检测的真实地基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657600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业务 / 身份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31720"/>
            <a:ext cx="3383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D1 资产业务上下文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D2 用户身份上下文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D3 漏洞 / 暴露上下文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D4 合规 / 合同上下文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657600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65760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828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基线对比 (核心)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31720"/>
            <a:ext cx="3383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D5 自身历史基线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D6 同组 / 同岗对等基线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D7 全组织罕见度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(回答:对这个人/这台机, 是不是异常?)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3611880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3611880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8288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环境维度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31720"/>
            <a:ext cx="3383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D8 业务时间窗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D9 地理位置基线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D10 设备指纹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D11 网络位置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112928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17220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强调:基线优先于规则 —— 异常检测的真实地基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14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E 类 · 外部情报 · 12 个能力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情报是外援,基线是底座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129284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64592" cy="777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Microsoft YaHei"/>
              </a:rPr>
              <a:t>信誉类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402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E1 IP · E2 域名/URL · E3 Hash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1129284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97480"/>
            <a:ext cx="16459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88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Microsoft YaHei"/>
              </a:rPr>
              <a:t>历史 / 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E4 WHOIS + pDNS + CT · E6 YARA / Sigma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1129284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16459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576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Microsoft YaHei"/>
              </a:rPr>
              <a:t>动态分析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776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E5 沙箱引爆 (静/动态结合)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34840"/>
            <a:ext cx="1129284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64592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Microsoft YaHei"/>
              </a:rPr>
              <a:t>映射 / 归因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E7 TTP → MITRE · E8 CVE · E9 APT 归因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03520"/>
            <a:ext cx="1129284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303520"/>
            <a:ext cx="164592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949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Microsoft YaHei"/>
              </a:rPr>
              <a:t>泄露 / 品牌 / 供应链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E10 凭据泄露 · E11 仿冒情报 · E12 供应链情报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172200"/>
            <a:ext cx="112928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17220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原则:E 类只补强 A/B/C/D 的结论,不单独充当 Verdict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15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F 类 · 判定与产出 · 11 个能力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判定是终点 · 改进是回路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129284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64592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Microsoft YaHei"/>
              </a:rPr>
              <a:t>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F1 TP / FP · F2 影响范围 · F3 攻击阶段总结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2928"/>
            <a:ext cx="1129284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52928"/>
            <a:ext cx="164592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44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</a:rPr>
              <a:t>提取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101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F4 IOC 提取与标准化 · F5 攻击者画像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77056"/>
            <a:ext cx="1129284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77056"/>
            <a:ext cx="16459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6849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Microsoft YaHei"/>
              </a:rPr>
              <a:t>重构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34256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F6 时间线 · F7 受影响实体清单 · F9 根因 / 初始入口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01184"/>
            <a:ext cx="1129284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01184"/>
            <a:ext cx="16459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9262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Microsoft YaHei"/>
              </a:rPr>
              <a:t>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583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F8 处置建议 · F10 通报材料 · F11 检测改进建议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126480"/>
            <a:ext cx="11292840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11292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F11 把每次调查的洞察反哺成新的检测规则 —— 闭环改进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16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G 类 · 元能力 · 8 个能力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元能力让 Agent 学会决定'下一步查什么'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269748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640080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G1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874519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假设生成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874519"/>
            <a:ext cx="269748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874519"/>
            <a:ext cx="640080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874519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G2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1874519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反证维护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74519"/>
            <a:ext cx="269748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74519"/>
            <a:ext cx="640080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874519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G3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874519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不确定性 + 下一步推荐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874519"/>
            <a:ext cx="269748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874519"/>
            <a:ext cx="640080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1874519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G4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1874519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历史相似告警回查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17519"/>
            <a:ext cx="269748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017519"/>
            <a:ext cx="64008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017519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G5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017519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调查路径优化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017519"/>
            <a:ext cx="269748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017519"/>
            <a:ext cx="64008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3017519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G6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3017519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证据链完整性自检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017519"/>
            <a:ext cx="269748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3017519"/>
            <a:ext cx="640080" cy="9601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3017519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G7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017519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PII / 合规边界检查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3017519"/>
            <a:ext cx="269748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61120" y="3017519"/>
            <a:ext cx="640080" cy="960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3017519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G8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3017519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人在环路升级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989320"/>
            <a:ext cx="1129284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989320"/>
            <a:ext cx="11292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 类 = Agent 自我反思 · 隐私守门 · 升级触发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17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数据源 × 能力依赖矩阵(节选)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● 必需  ○ 可选  ·  完整矩阵见 spec §3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1128369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14984"/>
                <a:gridCol w="1014984"/>
                <a:gridCol w="1014984"/>
                <a:gridCol w="1014984"/>
                <a:gridCol w="1014984"/>
                <a:gridCol w="1014984"/>
                <a:gridCol w="1014984"/>
                <a:gridCol w="1014984"/>
                <a:gridCol w="1014984"/>
              </a:tblGrid>
              <a:tr h="39069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能力 \ DS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IDP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HR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CMDB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EDR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SIEM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EMAIL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FW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TI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KB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</a:tr>
              <a:tr h="39069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A1 用户画像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A2 主机画像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9069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A4 IP 画像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A7 文件 Hash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9069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B1 登录活动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B3 进程执行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9069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B4 网络连接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B8 邮件收发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9069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E1 IP 信誉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F8 处置建议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○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217920"/>
            <a:ext cx="11292840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矩阵驱动 P0 数据源选型:9 个 DS 即可支撑前 25 个能力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编排示例 1 · 钓鱼邮件告警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入口:EMAIL 网关告警 “外部邮件含可疑链接”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84048" cy="3291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105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A9 邮件地址画像 + A1 用户画像 (锚点)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12848"/>
            <a:ext cx="384048" cy="3291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1284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19456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B8 邮件收发 (完整 header / 附件 / 链接)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96896"/>
            <a:ext cx="384048" cy="3291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9689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57860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A6 URL 画像 + E2 URL/Domain 信誉 → 未知则 E5 沙箱引爆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80944"/>
            <a:ext cx="384048" cy="3291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80944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96265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A7 附件 Hash + E3 Hash 信誉 → 未知则 E5 沙箱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64992"/>
            <a:ext cx="384048" cy="3291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364992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34670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D9 地理基线 + E11 仿冒情报 (是否伪装合作伙伴)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749040"/>
            <a:ext cx="384048" cy="3291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4904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7307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C9 受害者扩展 (同模板 / 同发件人)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133088"/>
            <a:ext cx="384048" cy="3291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13308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11480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B12 浏览器活动 (收件人是否实际点击)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517136"/>
            <a:ext cx="384048" cy="3291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51713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4988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C1 时间窗共现 (±2h 内同实体多源事件)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901184"/>
            <a:ext cx="384048" cy="3291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901184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88289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F1 判定 → F4 IOC 提取 → F8 处置建议 (退/隔/封)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285232"/>
            <a:ext cx="384048" cy="3291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285232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26694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G4 历史相似回查 (同样本/同 campaign 历史告警)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19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编排示例 2 · 勒索软件告警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入口:EDR “可疑加密行为”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84048" cy="32918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105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A2 主机画像 + A1 用户画像 (受害者锚点)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12848"/>
            <a:ext cx="384048" cy="32918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1284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19456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A8 进程画像 + A7 镜像 Hash 画像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96896"/>
            <a:ext cx="384048" cy="32918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9689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57860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B3 进程执行 (±10min 进程树还原)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80944"/>
            <a:ext cx="384048" cy="32918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80944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96265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B6 文件操作 (大量加密改写 / 勒索信落地)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64992"/>
            <a:ext cx="384048" cy="32918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364992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34670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B17 防御规避 (关闭 AV/EDR · 清除卷影副本)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749040"/>
            <a:ext cx="384048" cy="32918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4904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7307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B15 持久化 (新增服务 / 计划任务 / 启动项)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133088"/>
            <a:ext cx="384048" cy="32918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13308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11480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C5 横向移动 + C9 受害者扩展 (同样本同 C2 的其他主机)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517136"/>
            <a:ext cx="384048" cy="32918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51713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49884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D1 资产业务上下文 (业务等级 / 备份策略)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901184"/>
            <a:ext cx="384048" cy="32918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901184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88289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F4 IOC 标准化 → F8 处置建议 (隔离 / 重置 / 通报)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285232"/>
            <a:ext cx="384048" cy="32918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285232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26694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icrosoft YaHei"/>
              </a:rPr>
              <a:t>G8 人在环路升级 (必升级 · 业务影响重大)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20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编排示例 3 + 4 · 数据外传 / 挖矿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双场景对比 · 体现基线优先 + 多渠道关联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48640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数据外传 (Insider / BEC / 外部入侵)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A1 + D2 离职倒计时 / 高敏感岗位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B10 数据访问 (DLP / DAM / CASB)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B8 + B12 + B11 + B13 全渠道外传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A4 + A6 流向 → 外部 IP / SaaS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D5 + D6 历史与同组基线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F1 判定三选一:Insider / 误操 / 入侵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F8 处置 · G7 隐私守门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486400" cy="4297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48640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挖矿木马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A4 IP 画像 + E1 信誉 (矿池标签)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A2 主机 + A8 进程 (xmrig / 父进程)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B3 进程执行 (CPU 占用 / 持久化)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B4 网络连接 (Stratum / 矿池端口)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D7 全组织罕见度 (此进程是否仅此一例)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C9 受害者扩展 (同矿池的其他主机)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F9 根因 (初始入口) → F8 处置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17920"/>
            <a:ext cx="112928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共性:基线 (D5/D6/D7) 是从'有告警'到'真异常'的关键一步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21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编排示例 5 + 6 · 暴破 / 凭据填充 + 横向移动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高频实战场景 · 体现 C 类关联 + G 类升级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486400" cy="4114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暴破 / 凭据填充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A1 + A4 (账户 + 源 IP 锚点)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B1 登录 (成功/失败 分布 / UA / Geo)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D9 + D11 地理 / 网络位置基线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E10 凭据泄露 (是否命中泄露库)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C6 扇出:单 IP→多账户 / 多 IP→单账户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C1 时间窗 + D2 高权限 / VIP 加权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F8:临时封 IP + 强制重置 + 强制 MFA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486400" cy="4297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486400" cy="4114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横向移动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A2 + A1 (主机 + 账户)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B16 凭据访问 (LSASS / Mimikatz)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B3 进程执行 (psexec / wmic / winrm)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C3 父子链 + C5 完整横移路径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C2 已触达的全部资产图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C4 + E9 阶段 / APT 归因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F2 影响评估 → F8 (批量隔离 / 重置 KRBTGT)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G8 必升级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17920"/>
            <a:ext cx="112928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横向移动 = C 类关联能力的硬核试金石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22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落地路线图 · P0 (MVP)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闭环三类告警 · 25 个能力 · 9 个数据源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P0 目标场景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钓鱼邮件 / 恶意软件 / 异常登录 —— 3 类告警端到端可闭环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25 个能力清单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749039"/>
          <a:ext cx="7772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943600"/>
              </a:tblGrid>
              <a:tr h="30861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能力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</a:tr>
              <a:tr h="30861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A 实体 (5)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A1 A2 A4 A5 A7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B 活动 (4)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B1 B3 B4 B8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0861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 关联 (3)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C1 C2 C3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 上下文 (3)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D1 D2 D5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0861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E 情报 (4)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E1 E2 E3 E7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F 判定 (4)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F1 F2 F4 F8</a:t>
                      </a:r>
                    </a:p>
                  </a:txBody>
                  <a:tcPr marL="73152" marR="73152" marT="27432" marB="27432">
                    <a:solidFill>
                      <a:srgbClr val="F3F4F6"/>
                    </a:solidFill>
                  </a:tcPr>
                </a:tc>
              </a:tr>
              <a:tr h="30861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G 元能力 (2)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G3 G4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503920" y="18288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9 个数据源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2286000"/>
            <a:ext cx="3246120" cy="365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2286000"/>
            <a:ext cx="914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2860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Menlo"/>
              </a:rPr>
              <a:t>DS-IDP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743200"/>
            <a:ext cx="3246120" cy="365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2743200"/>
            <a:ext cx="914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7432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Menlo"/>
              </a:rPr>
              <a:t>DS-HR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3200400"/>
            <a:ext cx="3246120" cy="365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03920" y="3200400"/>
            <a:ext cx="914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32004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Menlo"/>
              </a:rPr>
              <a:t>DS-CMDB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3657600"/>
            <a:ext cx="3246120" cy="365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3657600"/>
            <a:ext cx="914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36576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Menlo"/>
              </a:rPr>
              <a:t>DS-EDR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4114800"/>
            <a:ext cx="3246120" cy="365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3920" y="4114800"/>
            <a:ext cx="914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41148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Menlo"/>
              </a:rPr>
              <a:t>DS-SIEM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4572000"/>
            <a:ext cx="3246120" cy="365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3920" y="4572000"/>
            <a:ext cx="914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45720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Menlo"/>
              </a:rPr>
              <a:t>DS-EMAIL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5029200"/>
            <a:ext cx="3246120" cy="365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20" y="5029200"/>
            <a:ext cx="914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50292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Menlo"/>
              </a:rPr>
              <a:t>DS-FW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5486400"/>
            <a:ext cx="3246120" cy="365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03920" y="5486400"/>
            <a:ext cx="914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54864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Menlo"/>
              </a:rPr>
              <a:t>DS-TI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5943600"/>
            <a:ext cx="3246120" cy="365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03920" y="5943600"/>
            <a:ext cx="914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59436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Menlo"/>
              </a:rPr>
              <a:t>DS-KB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309360"/>
            <a:ext cx="11292840" cy="274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309360"/>
            <a:ext cx="11292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MVP 验收:跑通钓鱼 + 勒索 + 异常登录的三条端到端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23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路线图 · P1 + P2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P1 场景扩展(+27) · P2 深度专题(+31)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486400" cy="4023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48640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P1 · 云 / 外泄 / 勒索 / 横向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5212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新增 27 个能力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新增 DS-CLOUD / DLP / CASB / NDR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新增 DS-DAM / PAM / SANDBOX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新增 DS-VULN / WHOIS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聚焦:云审计 / 横移 / 数据外泄 / 特权滥用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486400" cy="4023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486400" cy="4114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8288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P2 · 归因 / 供应链 / 内幕 / 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5212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新增 31 个能力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新增 DS-CODE / MOBILE / DNS / FILE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新增 DS-WAF / VPN / PROXY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新增 DS-TICKET / AV / IPAM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聚焦:APT 归因 / 供应链 / 内幕威胁 / 合规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89320"/>
            <a:ext cx="11292840" cy="5943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92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DS 接入序:CMDB+HR+IDP → EDR+SIEM → EMAIL+FW → TI+KB → NDR+CLOUD+DLP → SANDBOX+WHOIS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Spec Design Review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24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总结 &amp; Q&amp;A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Atomic Investigation Capabilities · Spec v1.0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2697480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2697480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3B82F6"/>
                </a:solidFill>
                <a:latin typeface="Microsoft YaHei"/>
              </a:rPr>
              <a:t>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Microsoft YaHei"/>
              </a:rPr>
              <a:t>原子能力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828800"/>
            <a:ext cx="2697480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828800"/>
            <a:ext cx="26974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01168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10B981"/>
                </a:solidFill>
                <a:latin typeface="Microsoft YaHei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Microsoft YaHei"/>
              </a:rPr>
              <a:t>抽象数据源类目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28800"/>
            <a:ext cx="2697480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269748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01168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59E0B"/>
                </a:solidFill>
                <a:latin typeface="Microsoft YaHe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Microsoft YaHei"/>
              </a:rPr>
              <a:t>能力大类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828800"/>
            <a:ext cx="2697480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828800"/>
            <a:ext cx="269748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01168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8B5CF6"/>
                </a:solidFill>
                <a:latin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788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Microsoft YaHei"/>
              </a:rPr>
              <a:t>落地阶段 P0-P2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Microsoft YaHei"/>
              </a:rPr>
              <a:t>关键原则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31920"/>
            <a:ext cx="11292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原子化 + 数据源解耦 + 降级可观测 + 基线优先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P0 25 个能力闭环钓鱼 / 勒索 / 异常登录三类告警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P1 +27 / P2 +31 持续扩展,数据源按依赖序接入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32120"/>
            <a:ext cx="1129284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532120"/>
            <a:ext cx="11292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nlo"/>
              </a:rPr>
              <a:t>配套实施计划:docs/plans/2026-05-24-investigation-atomic-skills-implementation.md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7220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Microsoft YaHei"/>
              </a:rPr>
              <a:t>Q&amp;A · 讨论入口:tech@ouraca.ai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